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2170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futuristic_technology_themed_digital_backg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1F">
              <a:alpha val="80000"/>
            </a:srgbClr>
          </a:solidFill>
          <a:ln w="12700">
            <a:solidFill>
              <a:srgbClr val="03101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75488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0E5FF"/>
                </a:solidFill>
              </a:rPr>
              <a:t>ШУТИС • Мэдээлэл Холбооны Технологийн Сургууль</a:t>
            </a:r>
            <a:endParaRPr lang="en-US" sz="1220" dirty="0"/>
          </a:p>
        </p:txBody>
      </p:sp>
      <p:sp>
        <p:nvSpPr>
          <p:cNvPr id="5" name="Text 2"/>
          <p:cNvSpPr/>
          <p:nvPr/>
        </p:nvSpPr>
        <p:spPr>
          <a:xfrm>
            <a:off x="640080" y="1207008"/>
            <a:ext cx="901091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Magic Mirror ба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Real-Time Object Detection систем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58368" y="2862072"/>
            <a:ext cx="2377440" cy="0"/>
          </a:xfrm>
          <a:prstGeom prst="line">
            <a:avLst/>
          </a:prstGeom>
          <a:noFill/>
          <a:ln w="38100">
            <a:solidFill>
              <a:srgbClr val="00E5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312724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A7BEDB"/>
                </a:solidFill>
              </a:rPr>
              <a:t>Компьютерийн Хараа (F.CSM322) — Бие даалтын ажил</a:t>
            </a:r>
            <a:endParaRPr lang="en-US" sz="1420" dirty="0"/>
          </a:p>
        </p:txBody>
      </p:sp>
      <p:sp>
        <p:nvSpPr>
          <p:cNvPr id="8" name="Shape 5"/>
          <p:cNvSpPr/>
          <p:nvPr/>
        </p:nvSpPr>
        <p:spPr>
          <a:xfrm>
            <a:off x="658368" y="3959352"/>
            <a:ext cx="6199632" cy="1609344"/>
          </a:xfrm>
          <a:prstGeom prst="roundRect">
            <a:avLst>
              <a:gd name="adj" fmla="val 4545"/>
            </a:avLst>
          </a:prstGeom>
          <a:solidFill>
            <a:srgbClr val="0B1E35">
              <a:alpha val="93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4251960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F7FBFF"/>
                </a:solidFill>
              </a:rPr>
              <a:t>Багш: Ч.Цэнд-Аюуш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932688" y="4608576"/>
            <a:ext cx="5394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F7FBFF"/>
                </a:solidFill>
              </a:rPr>
              <a:t>Гүйцэтгэсэн: Б.Насанжаргал (B221910002), Н.Цацрал (B221910005)</a:t>
            </a:r>
            <a:endParaRPr lang="en-US" sz="1210" dirty="0"/>
          </a:p>
        </p:txBody>
      </p:sp>
      <p:sp>
        <p:nvSpPr>
          <p:cNvPr id="11" name="Text 8"/>
          <p:cNvSpPr/>
          <p:nvPr/>
        </p:nvSpPr>
        <p:spPr>
          <a:xfrm>
            <a:off x="932688" y="4965192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7BEDB"/>
                </a:solidFill>
              </a:rPr>
              <a:t>Улаанбаатар • 2026 оны хавар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8366760" y="5340096"/>
            <a:ext cx="1527048" cy="283464"/>
          </a:xfrm>
          <a:prstGeom prst="roundRect">
            <a:avLst>
              <a:gd name="adj" fmla="val 19355"/>
            </a:avLst>
          </a:prstGeom>
          <a:solidFill>
            <a:srgbClr val="1EA7FF">
              <a:alpha val="88000"/>
            </a:srgbClr>
          </a:solidFill>
          <a:ln w="10160">
            <a:solidFill>
              <a:srgbClr val="1EA7FF">
                <a:alpha val="8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30768" y="5402275"/>
            <a:ext cx="1399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7FBFF"/>
                </a:solidFill>
              </a:rPr>
              <a:t>COMPUTER VISION</a:t>
            </a:r>
            <a:endParaRPr lang="en-US" sz="760" dirty="0"/>
          </a:p>
        </p:txBody>
      </p:sp>
      <p:sp>
        <p:nvSpPr>
          <p:cNvPr id="14" name="Shape 11"/>
          <p:cNvSpPr/>
          <p:nvPr/>
        </p:nvSpPr>
        <p:spPr>
          <a:xfrm>
            <a:off x="10003536" y="5340096"/>
            <a:ext cx="1389888" cy="283464"/>
          </a:xfrm>
          <a:prstGeom prst="roundRect">
            <a:avLst>
              <a:gd name="adj" fmla="val 19355"/>
            </a:avLst>
          </a:prstGeom>
          <a:solidFill>
            <a:srgbClr val="00E5FF">
              <a:alpha val="88000"/>
            </a:srgbClr>
          </a:solidFill>
          <a:ln w="10160">
            <a:solidFill>
              <a:srgbClr val="00E5FF">
                <a:alpha val="8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67544" y="5402275"/>
            <a:ext cx="1261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7FBFF"/>
                </a:solidFill>
              </a:rPr>
              <a:t>REAL-TIME AI</a:t>
            </a:r>
            <a:endParaRPr lang="en-US" sz="760" dirty="0"/>
          </a:p>
        </p:txBody>
      </p:sp>
      <p:sp>
        <p:nvSpPr>
          <p:cNvPr id="16" name="Text 13"/>
          <p:cNvSpPr/>
          <p:nvPr/>
        </p:nvSpPr>
        <p:spPr>
          <a:xfrm>
            <a:off x="7726680" y="6528816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dirty="0">
                <a:solidFill>
                  <a:srgbClr val="7D95B2"/>
                </a:solidFill>
              </a:rPr>
              <a:t>AI Magic Mirror ба Real-Time Object Detection систем  •  1/8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futuristic_technology_themed_digital_backg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1F">
              <a:alpha val="80000"/>
            </a:srgbClr>
          </a:solidFill>
          <a:ln w="12700">
            <a:solidFill>
              <a:srgbClr val="03101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Танилцуулга / Overview</a:t>
            </a:r>
            <a:endParaRPr lang="en-US" sz="2350" dirty="0"/>
          </a:p>
        </p:txBody>
      </p:sp>
      <p:sp>
        <p:nvSpPr>
          <p:cNvPr id="5" name="Shape 2"/>
          <p:cNvSpPr/>
          <p:nvPr/>
        </p:nvSpPr>
        <p:spPr>
          <a:xfrm>
            <a:off x="502920" y="804672"/>
            <a:ext cx="1051560" cy="0"/>
          </a:xfrm>
          <a:prstGeom prst="line">
            <a:avLst/>
          </a:prstGeom>
          <a:noFill/>
          <a:ln w="38100">
            <a:solidFill>
              <a:srgbClr val="00E5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00784" y="7132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7BEDB"/>
                </a:solidFill>
              </a:rPr>
              <a:t>Төслийн зорилго, үндсэн модуль ба хэрэглээний хүрээ</a:t>
            </a:r>
            <a:endParaRPr lang="en-US" sz="980" dirty="0"/>
          </a:p>
        </p:txBody>
      </p:sp>
      <p:sp>
        <p:nvSpPr>
          <p:cNvPr id="7" name="Shape 4"/>
          <p:cNvSpPr/>
          <p:nvPr/>
        </p:nvSpPr>
        <p:spPr>
          <a:xfrm>
            <a:off x="658368" y="105156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0B1E35">
              <a:alpha val="92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243584"/>
            <a:ext cx="102870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7FBFF"/>
                </a:solidFill>
              </a:rPr>
              <a:t>Төслийн зорилго нь webcam болон upload video эх үүсвэрээс real-time computer vision боловсруулалт хийж, model-ийн үр дүнг web application дээр тогтвортой, ойлгомжтой, интерактив байдлаар харуулах юм.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58368" y="2084832"/>
            <a:ext cx="2468880" cy="2578608"/>
          </a:xfrm>
          <a:prstGeom prst="roundRect">
            <a:avLst>
              <a:gd name="adj" fmla="val 2963"/>
            </a:avLst>
          </a:prstGeom>
          <a:solidFill>
            <a:srgbClr val="0B1E35">
              <a:alpha val="96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331720"/>
            <a:ext cx="438912" cy="438912"/>
          </a:xfrm>
          <a:prstGeom prst="ellipse">
            <a:avLst/>
          </a:prstGeom>
          <a:solidFill>
            <a:srgbClr val="1EA7FF">
              <a:alpha val="9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3544" y="2432304"/>
            <a:ext cx="2377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7FBFF"/>
                </a:solidFill>
              </a:rPr>
              <a:t>▣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371600" y="23591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7FBFF"/>
                </a:solidFill>
              </a:rPr>
              <a:t>Object Detection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841248" y="2926080"/>
            <a:ext cx="208483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7BEDB"/>
                </a:solidFill>
              </a:rPr>
              <a:t>YOLO ашиглан frame бүр дээр person/object илрүүлнэ. ByteTrack болон frontend stabilizer-аар box савлалтыг багасгана.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3401568" y="2084832"/>
            <a:ext cx="2468880" cy="2578608"/>
          </a:xfrm>
          <a:prstGeom prst="roundRect">
            <a:avLst>
              <a:gd name="adj" fmla="val 2963"/>
            </a:avLst>
          </a:prstGeom>
          <a:solidFill>
            <a:srgbClr val="0B1E35">
              <a:alpha val="96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66160" y="2331720"/>
            <a:ext cx="438912" cy="438912"/>
          </a:xfrm>
          <a:prstGeom prst="ellipse">
            <a:avLst/>
          </a:prstGeom>
          <a:solidFill>
            <a:srgbClr val="1EA7FF">
              <a:alpha val="9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66744" y="2432304"/>
            <a:ext cx="2377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7FBFF"/>
                </a:solidFill>
              </a:rPr>
              <a:t>◉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114800" y="23591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7FBFF"/>
                </a:solidFill>
              </a:rPr>
              <a:t>Magic Mirror AR</a:t>
            </a:r>
            <a:endParaRPr lang="en-US" sz="1280" dirty="0"/>
          </a:p>
        </p:txBody>
      </p:sp>
      <p:sp>
        <p:nvSpPr>
          <p:cNvPr id="18" name="Text 15"/>
          <p:cNvSpPr/>
          <p:nvPr/>
        </p:nvSpPr>
        <p:spPr>
          <a:xfrm>
            <a:off x="3584448" y="2926080"/>
            <a:ext cx="208483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7BEDB"/>
                </a:solidFill>
              </a:rPr>
              <a:t>Face landmark дээр тулгуурлан нүдний шил, party hat, devil horns зэрэг filter-ийг нүүрний байрлалтай тааруулна.</a:t>
            </a:r>
            <a:endParaRPr lang="en-US" sz="870" dirty="0"/>
          </a:p>
        </p:txBody>
      </p:sp>
      <p:sp>
        <p:nvSpPr>
          <p:cNvPr id="19" name="Shape 16"/>
          <p:cNvSpPr/>
          <p:nvPr/>
        </p:nvSpPr>
        <p:spPr>
          <a:xfrm>
            <a:off x="6144768" y="2084832"/>
            <a:ext cx="2468880" cy="2578608"/>
          </a:xfrm>
          <a:prstGeom prst="roundRect">
            <a:avLst>
              <a:gd name="adj" fmla="val 2963"/>
            </a:avLst>
          </a:prstGeom>
          <a:solidFill>
            <a:srgbClr val="0B1E35">
              <a:alpha val="96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09360" y="2331720"/>
            <a:ext cx="438912" cy="438912"/>
          </a:xfrm>
          <a:prstGeom prst="ellipse">
            <a:avLst/>
          </a:prstGeom>
          <a:solidFill>
            <a:srgbClr val="1EA7FF">
              <a:alpha val="9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9944" y="2432304"/>
            <a:ext cx="2377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7FBFF"/>
                </a:solidFill>
              </a:rPr>
              <a:t>♫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858000" y="23591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7FBFF"/>
                </a:solidFill>
              </a:rPr>
              <a:t>Virtual Drum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6327648" y="2926080"/>
            <a:ext cx="208483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7BEDB"/>
                </a:solidFill>
              </a:rPr>
              <a:t>Hand landmark-аар fingertip хөдөлгөөнийг уншиж, pad цохилт, Web Audio API sound, score system ажиллуулна.</a:t>
            </a:r>
            <a:endParaRPr lang="en-US" sz="870" dirty="0"/>
          </a:p>
        </p:txBody>
      </p:sp>
      <p:sp>
        <p:nvSpPr>
          <p:cNvPr id="24" name="Shape 21"/>
          <p:cNvSpPr/>
          <p:nvPr/>
        </p:nvSpPr>
        <p:spPr>
          <a:xfrm>
            <a:off x="8887968" y="2084832"/>
            <a:ext cx="2468880" cy="2578608"/>
          </a:xfrm>
          <a:prstGeom prst="roundRect">
            <a:avLst>
              <a:gd name="adj" fmla="val 2963"/>
            </a:avLst>
          </a:prstGeom>
          <a:solidFill>
            <a:srgbClr val="0B1E35">
              <a:alpha val="96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052560" y="2331720"/>
            <a:ext cx="438912" cy="438912"/>
          </a:xfrm>
          <a:prstGeom prst="ellipse">
            <a:avLst/>
          </a:prstGeom>
          <a:solidFill>
            <a:srgbClr val="1EA7FF">
              <a:alpha val="9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53144" y="2432304"/>
            <a:ext cx="2377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7FBFF"/>
                </a:solidFill>
              </a:rPr>
              <a:t>⌂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9601200" y="23591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7FBFF"/>
                </a:solidFill>
              </a:rPr>
              <a:t>Study Space</a:t>
            </a:r>
            <a:endParaRPr lang="en-US" sz="1280" dirty="0"/>
          </a:p>
        </p:txBody>
      </p:sp>
      <p:sp>
        <p:nvSpPr>
          <p:cNvPr id="28" name="Text 25"/>
          <p:cNvSpPr/>
          <p:nvPr/>
        </p:nvSpPr>
        <p:spPr>
          <a:xfrm>
            <a:off x="9070848" y="2926080"/>
            <a:ext cx="208483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7BEDB"/>
                </a:solidFill>
              </a:rPr>
              <a:t>Хүн болон эд зүйлсийн ойролцоо байрлалыг ашиглан study орчны monitoring prototype гаргана.</a:t>
            </a:r>
            <a:endParaRPr lang="en-US" sz="870" dirty="0"/>
          </a:p>
        </p:txBody>
      </p:sp>
      <p:sp>
        <p:nvSpPr>
          <p:cNvPr id="29" name="Shape 26"/>
          <p:cNvSpPr/>
          <p:nvPr/>
        </p:nvSpPr>
        <p:spPr>
          <a:xfrm>
            <a:off x="960120" y="5138928"/>
            <a:ext cx="10149840" cy="768096"/>
          </a:xfrm>
          <a:prstGeom prst="roundRect">
            <a:avLst>
              <a:gd name="adj" fmla="val 9524"/>
            </a:avLst>
          </a:prstGeom>
          <a:solidFill>
            <a:srgbClr val="071A2E">
              <a:alpha val="93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170432" y="5458968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16736" y="539496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7FBFF"/>
                </a:solidFill>
              </a:rPr>
              <a:t>Системийн онцлог: backend AI inference, browser-side landmark detection, Canvas overlay, realtime audio feedback-ийг нэг UX flow болгон холбосон.</a:t>
            </a:r>
            <a:endParaRPr lang="en-US" sz="1020" dirty="0"/>
          </a:p>
        </p:txBody>
      </p:sp>
      <p:sp>
        <p:nvSpPr>
          <p:cNvPr id="32" name="Text 29"/>
          <p:cNvSpPr/>
          <p:nvPr/>
        </p:nvSpPr>
        <p:spPr>
          <a:xfrm>
            <a:off x="7726680" y="6528816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dirty="0">
                <a:solidFill>
                  <a:srgbClr val="7D95B2"/>
                </a:solidFill>
              </a:rPr>
              <a:t>AI Magic Mirror ба Real-Time Object Detection систем  •  2/8</a:t>
            </a:r>
            <a:endParaRPr lang="en-US" sz="8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futuristic_technology_themed_digital_backg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1F">
              <a:alpha val="80000"/>
            </a:srgbClr>
          </a:solidFill>
          <a:ln w="12700">
            <a:solidFill>
              <a:srgbClr val="03101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Асуудал ба шийдэл / Problem &amp; Solution</a:t>
            </a:r>
            <a:endParaRPr lang="en-US" sz="2350" dirty="0"/>
          </a:p>
        </p:txBody>
      </p:sp>
      <p:sp>
        <p:nvSpPr>
          <p:cNvPr id="5" name="Shape 2"/>
          <p:cNvSpPr/>
          <p:nvPr/>
        </p:nvSpPr>
        <p:spPr>
          <a:xfrm>
            <a:off x="502920" y="804672"/>
            <a:ext cx="1051560" cy="0"/>
          </a:xfrm>
          <a:prstGeom prst="line">
            <a:avLst/>
          </a:prstGeom>
          <a:noFill/>
          <a:ln w="38100">
            <a:solidFill>
              <a:srgbClr val="00E5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00784" y="7132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7BEDB"/>
                </a:solidFill>
              </a:rPr>
              <a:t>Тулгарсан сорилтуудыг системийн түвшинд хэрхэн шийдсэн бэ?</a:t>
            </a:r>
            <a:endParaRPr lang="en-US" sz="980" dirty="0"/>
          </a:p>
        </p:txBody>
      </p:sp>
      <p:sp>
        <p:nvSpPr>
          <p:cNvPr id="7" name="Shape 4"/>
          <p:cNvSpPr/>
          <p:nvPr/>
        </p:nvSpPr>
        <p:spPr>
          <a:xfrm>
            <a:off x="566928" y="111556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0B2744">
              <a:alpha val="98000"/>
            </a:srgbClr>
          </a:solidFill>
          <a:ln w="13970">
            <a:solidFill>
              <a:srgbClr val="00E5FF">
                <a:alpha val="9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225296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FBFF"/>
                </a:solidFill>
              </a:rPr>
              <a:t>Асуудал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057400" y="1115568"/>
            <a:ext cx="4617720" cy="384048"/>
          </a:xfrm>
          <a:prstGeom prst="roundRect">
            <a:avLst>
              <a:gd name="adj" fmla="val 19048"/>
            </a:avLst>
          </a:prstGeom>
          <a:solidFill>
            <a:srgbClr val="0B2744">
              <a:alpha val="98000"/>
            </a:srgbClr>
          </a:solidFill>
          <a:ln w="13970">
            <a:solidFill>
              <a:srgbClr val="00E5FF">
                <a:alpha val="9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0552" y="1225296"/>
            <a:ext cx="44714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FBFF"/>
                </a:solidFill>
              </a:rPr>
              <a:t>Нөлөө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748272" y="1115568"/>
            <a:ext cx="4828032" cy="384048"/>
          </a:xfrm>
          <a:prstGeom prst="roundRect">
            <a:avLst>
              <a:gd name="adj" fmla="val 19048"/>
            </a:avLst>
          </a:prstGeom>
          <a:solidFill>
            <a:srgbClr val="0D3557">
              <a:alpha val="98000"/>
            </a:srgbClr>
          </a:solidFill>
          <a:ln w="13970">
            <a:solidFill>
              <a:srgbClr val="00E5FF">
                <a:alpha val="9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21424" y="1225296"/>
            <a:ext cx="4681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FBFF"/>
                </a:solidFill>
              </a:rPr>
              <a:t>Шийдэл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" y="1609344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081D33">
              <a:alpha val="94000"/>
            </a:srgbClr>
          </a:solidFill>
          <a:ln w="13970">
            <a:solidFill>
              <a:srgbClr val="173C60">
                <a:alpha val="92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57400" y="1609344"/>
            <a:ext cx="4617720" cy="731520"/>
          </a:xfrm>
          <a:prstGeom prst="roundRect">
            <a:avLst>
              <a:gd name="adj" fmla="val 10000"/>
            </a:avLst>
          </a:prstGeom>
          <a:solidFill>
            <a:srgbClr val="081D33">
              <a:alpha val="94000"/>
            </a:srgbClr>
          </a:solidFill>
          <a:ln w="13970">
            <a:solidFill>
              <a:srgbClr val="173C60">
                <a:alpha val="9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48272" y="1609344"/>
            <a:ext cx="4828032" cy="731520"/>
          </a:xfrm>
          <a:prstGeom prst="roundRect">
            <a:avLst>
              <a:gd name="adj" fmla="val 10000"/>
            </a:avLst>
          </a:prstGeom>
          <a:solidFill>
            <a:srgbClr val="09243D">
              <a:alpha val="94000"/>
            </a:srgbClr>
          </a:solidFill>
          <a:ln w="13970">
            <a:solidFill>
              <a:srgbClr val="173C60">
                <a:alpha val="92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182880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0E5FF"/>
                </a:solidFill>
              </a:rPr>
              <a:t>Latency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2203704" y="1728216"/>
            <a:ext cx="42702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5" dirty="0">
                <a:solidFill>
                  <a:srgbClr val="A7BEDB"/>
                </a:solidFill>
              </a:rPr>
              <a:t>Model inference frame rendering-тэй зөрөхөд video гацах эсвэл overlay хоцрох мэдрэмж үүснэ.</a:t>
            </a:r>
            <a:endParaRPr lang="en-US" sz="815" dirty="0"/>
          </a:p>
        </p:txBody>
      </p:sp>
      <p:sp>
        <p:nvSpPr>
          <p:cNvPr id="18" name="Text 15"/>
          <p:cNvSpPr/>
          <p:nvPr/>
        </p:nvSpPr>
        <p:spPr>
          <a:xfrm>
            <a:off x="6912864" y="1728216"/>
            <a:ext cx="4434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5" dirty="0">
                <a:solidFill>
                  <a:srgbClr val="F7FBFF"/>
                </a:solidFill>
              </a:rPr>
              <a:t>Display loop-ийг requestAnimationFrame дээр, detection loop-ийг background request хэлбэрээр тусгаарласан.</a:t>
            </a:r>
            <a:endParaRPr lang="en-US" sz="815" dirty="0"/>
          </a:p>
        </p:txBody>
      </p:sp>
      <p:sp>
        <p:nvSpPr>
          <p:cNvPr id="19" name="Shape 16"/>
          <p:cNvSpPr/>
          <p:nvPr/>
        </p:nvSpPr>
        <p:spPr>
          <a:xfrm>
            <a:off x="566928" y="246888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081D33">
              <a:alpha val="94000"/>
            </a:srgbClr>
          </a:solidFill>
          <a:ln w="13970">
            <a:solidFill>
              <a:srgbClr val="173C60">
                <a:alpha val="92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057400" y="2468880"/>
            <a:ext cx="4617720" cy="731520"/>
          </a:xfrm>
          <a:prstGeom prst="roundRect">
            <a:avLst>
              <a:gd name="adj" fmla="val 10000"/>
            </a:avLst>
          </a:prstGeom>
          <a:solidFill>
            <a:srgbClr val="081D33">
              <a:alpha val="94000"/>
            </a:srgbClr>
          </a:solidFill>
          <a:ln w="13970">
            <a:solidFill>
              <a:srgbClr val="173C60">
                <a:alpha val="92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48272" y="2468880"/>
            <a:ext cx="4828032" cy="731520"/>
          </a:xfrm>
          <a:prstGeom prst="roundRect">
            <a:avLst>
              <a:gd name="adj" fmla="val 10000"/>
            </a:avLst>
          </a:prstGeom>
          <a:solidFill>
            <a:srgbClr val="09243D">
              <a:alpha val="94000"/>
            </a:srgbClr>
          </a:solidFill>
          <a:ln w="13970">
            <a:solidFill>
              <a:srgbClr val="173C60">
                <a:alpha val="92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6883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0E5FF"/>
                </a:solidFill>
              </a:rPr>
              <a:t>Jittering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2203704" y="2587752"/>
            <a:ext cx="42702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5" dirty="0">
                <a:solidFill>
                  <a:srgbClr val="A7BEDB"/>
                </a:solidFill>
              </a:rPr>
              <a:t>YOLO bbox frame бүр дээр бага зэрэг өөрчлөгдөж хэрэглэгчид box “чичирч” харагдана.</a:t>
            </a:r>
            <a:endParaRPr lang="en-US" sz="815" dirty="0"/>
          </a:p>
        </p:txBody>
      </p:sp>
      <p:sp>
        <p:nvSpPr>
          <p:cNvPr id="24" name="Text 21"/>
          <p:cNvSpPr/>
          <p:nvPr/>
        </p:nvSpPr>
        <p:spPr>
          <a:xfrm>
            <a:off x="6912864" y="2587752"/>
            <a:ext cx="4434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5" dirty="0">
                <a:solidFill>
                  <a:srgbClr val="F7FBFF"/>
                </a:solidFill>
              </a:rPr>
              <a:t>EMA smoothing + ByteTrack track_id ашиглан box coordinate-ийг тогтворжуулсан.</a:t>
            </a:r>
            <a:endParaRPr lang="en-US" sz="815" dirty="0"/>
          </a:p>
        </p:txBody>
      </p:sp>
      <p:sp>
        <p:nvSpPr>
          <p:cNvPr id="25" name="Shape 22"/>
          <p:cNvSpPr/>
          <p:nvPr/>
        </p:nvSpPr>
        <p:spPr>
          <a:xfrm>
            <a:off x="566928" y="3328416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081D33">
              <a:alpha val="94000"/>
            </a:srgbClr>
          </a:solidFill>
          <a:ln w="13970">
            <a:solidFill>
              <a:srgbClr val="173C60">
                <a:alpha val="92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057400" y="3328416"/>
            <a:ext cx="4617720" cy="731520"/>
          </a:xfrm>
          <a:prstGeom prst="roundRect">
            <a:avLst>
              <a:gd name="adj" fmla="val 10000"/>
            </a:avLst>
          </a:prstGeom>
          <a:solidFill>
            <a:srgbClr val="081D33">
              <a:alpha val="94000"/>
            </a:srgbClr>
          </a:solidFill>
          <a:ln w="13970">
            <a:solidFill>
              <a:srgbClr val="173C60">
                <a:alpha val="92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48272" y="3328416"/>
            <a:ext cx="4828032" cy="731520"/>
          </a:xfrm>
          <a:prstGeom prst="roundRect">
            <a:avLst>
              <a:gd name="adj" fmla="val 10000"/>
            </a:avLst>
          </a:prstGeom>
          <a:solidFill>
            <a:srgbClr val="09243D">
              <a:alpha val="94000"/>
            </a:srgbClr>
          </a:solidFill>
          <a:ln w="13970">
            <a:solidFill>
              <a:srgbClr val="173C60">
                <a:alpha val="92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8368" y="354787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0E5FF"/>
                </a:solidFill>
              </a:rPr>
              <a:t>False positive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2203704" y="3447288"/>
            <a:ext cx="42702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5" dirty="0">
                <a:solidFill>
                  <a:srgbClr val="A7BEDB"/>
                </a:solidFill>
              </a:rPr>
              <a:t>Нэг frame дээр сул detection гараад алга болох нь demo-г найдваргүй мэт харагдуулна.</a:t>
            </a:r>
            <a:endParaRPr lang="en-US" sz="815" dirty="0"/>
          </a:p>
        </p:txBody>
      </p:sp>
      <p:sp>
        <p:nvSpPr>
          <p:cNvPr id="30" name="Text 27"/>
          <p:cNvSpPr/>
          <p:nvPr/>
        </p:nvSpPr>
        <p:spPr>
          <a:xfrm>
            <a:off x="6912864" y="3447288"/>
            <a:ext cx="4434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5" dirty="0">
                <a:solidFill>
                  <a:srgbClr val="F7FBFF"/>
                </a:solidFill>
              </a:rPr>
              <a:t>Confidence босго, short hold, IoU matching ашиглан тогтвортой detection-г л харуулсан.</a:t>
            </a:r>
            <a:endParaRPr lang="en-US" sz="815" dirty="0"/>
          </a:p>
        </p:txBody>
      </p:sp>
      <p:sp>
        <p:nvSpPr>
          <p:cNvPr id="31" name="Shape 28"/>
          <p:cNvSpPr/>
          <p:nvPr/>
        </p:nvSpPr>
        <p:spPr>
          <a:xfrm>
            <a:off x="566928" y="4187952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081D33">
              <a:alpha val="94000"/>
            </a:srgbClr>
          </a:solidFill>
          <a:ln w="13970">
            <a:solidFill>
              <a:srgbClr val="173C60">
                <a:alpha val="92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057400" y="4187952"/>
            <a:ext cx="4617720" cy="731520"/>
          </a:xfrm>
          <a:prstGeom prst="roundRect">
            <a:avLst>
              <a:gd name="adj" fmla="val 10000"/>
            </a:avLst>
          </a:prstGeom>
          <a:solidFill>
            <a:srgbClr val="081D33">
              <a:alpha val="94000"/>
            </a:srgbClr>
          </a:solidFill>
          <a:ln w="13970">
            <a:solidFill>
              <a:srgbClr val="173C60">
                <a:alpha val="92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48272" y="4187952"/>
            <a:ext cx="4828032" cy="731520"/>
          </a:xfrm>
          <a:prstGeom prst="roundRect">
            <a:avLst>
              <a:gd name="adj" fmla="val 10000"/>
            </a:avLst>
          </a:prstGeom>
          <a:solidFill>
            <a:srgbClr val="09243D">
              <a:alpha val="94000"/>
            </a:srgbClr>
          </a:solidFill>
          <a:ln w="13970">
            <a:solidFill>
              <a:srgbClr val="173C60">
                <a:alpha val="92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8368" y="44074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0E5FF"/>
                </a:solidFill>
              </a:rPr>
              <a:t>Mirror coordinate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2203704" y="4306824"/>
            <a:ext cx="42702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5" dirty="0">
                <a:solidFill>
                  <a:srgbClr val="A7BEDB"/>
                </a:solidFill>
              </a:rPr>
              <a:t>Selfie camera mirror үед face landmark-ийн angle, screen-left/right буруу тооцогдох эрсдэлтэй.</a:t>
            </a:r>
            <a:endParaRPr lang="en-US" sz="815" dirty="0"/>
          </a:p>
        </p:txBody>
      </p:sp>
      <p:sp>
        <p:nvSpPr>
          <p:cNvPr id="36" name="Text 33"/>
          <p:cNvSpPr/>
          <p:nvPr/>
        </p:nvSpPr>
        <p:spPr>
          <a:xfrm>
            <a:off x="6912864" y="4306824"/>
            <a:ext cx="4434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5" dirty="0">
                <a:solidFill>
                  <a:srgbClr val="F7FBFF"/>
                </a:solidFill>
              </a:rPr>
              <a:t>Нүдний landmark-ийг дэлгэцийн coordinate-аар дахин эрэмбэлж roll angle зассан.</a:t>
            </a:r>
            <a:endParaRPr lang="en-US" sz="815" dirty="0"/>
          </a:p>
        </p:txBody>
      </p:sp>
      <p:sp>
        <p:nvSpPr>
          <p:cNvPr id="37" name="Shape 34"/>
          <p:cNvSpPr/>
          <p:nvPr/>
        </p:nvSpPr>
        <p:spPr>
          <a:xfrm>
            <a:off x="566928" y="5047488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081D33">
              <a:alpha val="94000"/>
            </a:srgbClr>
          </a:solidFill>
          <a:ln w="13970">
            <a:solidFill>
              <a:srgbClr val="173C60">
                <a:alpha val="92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057400" y="5047488"/>
            <a:ext cx="4617720" cy="731520"/>
          </a:xfrm>
          <a:prstGeom prst="roundRect">
            <a:avLst>
              <a:gd name="adj" fmla="val 10000"/>
            </a:avLst>
          </a:prstGeom>
          <a:solidFill>
            <a:srgbClr val="081D33">
              <a:alpha val="94000"/>
            </a:srgbClr>
          </a:solidFill>
          <a:ln w="13970">
            <a:solidFill>
              <a:srgbClr val="173C60">
                <a:alpha val="92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748272" y="5047488"/>
            <a:ext cx="4828032" cy="731520"/>
          </a:xfrm>
          <a:prstGeom prst="roundRect">
            <a:avLst>
              <a:gd name="adj" fmla="val 10000"/>
            </a:avLst>
          </a:prstGeom>
          <a:solidFill>
            <a:srgbClr val="09243D">
              <a:alpha val="94000"/>
            </a:srgbClr>
          </a:solidFill>
          <a:ln w="13970">
            <a:solidFill>
              <a:srgbClr val="173C60">
                <a:alpha val="92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8368" y="526694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0E5FF"/>
                </a:solidFill>
              </a:rPr>
              <a:t>Audio feedback</a:t>
            </a:r>
            <a:endParaRPr lang="en-US" sz="980" dirty="0"/>
          </a:p>
        </p:txBody>
      </p:sp>
      <p:sp>
        <p:nvSpPr>
          <p:cNvPr id="41" name="Text 38"/>
          <p:cNvSpPr/>
          <p:nvPr/>
        </p:nvSpPr>
        <p:spPr>
          <a:xfrm>
            <a:off x="2203704" y="5166360"/>
            <a:ext cx="42702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5" dirty="0">
                <a:solidFill>
                  <a:srgbClr val="A7BEDB"/>
                </a:solidFill>
              </a:rPr>
              <a:t>Drum mode-д audio delay мэдрэгдвэл цохилт буруу мэт санагдана.</a:t>
            </a:r>
            <a:endParaRPr lang="en-US" sz="815" dirty="0"/>
          </a:p>
        </p:txBody>
      </p:sp>
      <p:sp>
        <p:nvSpPr>
          <p:cNvPr id="42" name="Text 39"/>
          <p:cNvSpPr/>
          <p:nvPr/>
        </p:nvSpPr>
        <p:spPr>
          <a:xfrm>
            <a:off x="6912864" y="5166360"/>
            <a:ext cx="4434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5" dirty="0">
                <a:solidFill>
                  <a:srgbClr val="F7FBFF"/>
                </a:solidFill>
              </a:rPr>
              <a:t>Hand Landmarker-ийг browser-side ажиллуулж, Web Audio API-аар шууд sound synthesis хийсэн.</a:t>
            </a:r>
            <a:endParaRPr lang="en-US" sz="815" dirty="0"/>
          </a:p>
        </p:txBody>
      </p:sp>
      <p:sp>
        <p:nvSpPr>
          <p:cNvPr id="43" name="Shape 40"/>
          <p:cNvSpPr/>
          <p:nvPr/>
        </p:nvSpPr>
        <p:spPr>
          <a:xfrm>
            <a:off x="841248" y="5879592"/>
            <a:ext cx="10515600" cy="411480"/>
          </a:xfrm>
          <a:prstGeom prst="roundRect">
            <a:avLst>
              <a:gd name="adj" fmla="val 17778"/>
            </a:avLst>
          </a:prstGeom>
          <a:solidFill>
            <a:srgbClr val="0A1F36">
              <a:alpha val="95000"/>
            </a:srgbClr>
          </a:solidFill>
          <a:ln w="13970">
            <a:solidFill>
              <a:srgbClr val="00E5FF">
                <a:alpha val="92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60704" y="5998464"/>
            <a:ext cx="10058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7E8F9"/>
                </a:solidFill>
              </a:rPr>
              <a:t>Үндсэн зарчим: Raw model output → tracking/smoothing → coordinate correction → UI event logic → хэрэглэгчид тогтвортой real-time experience.</a:t>
            </a:r>
            <a:endParaRPr lang="en-US" sz="920" dirty="0"/>
          </a:p>
        </p:txBody>
      </p:sp>
      <p:sp>
        <p:nvSpPr>
          <p:cNvPr id="45" name="Text 42"/>
          <p:cNvSpPr/>
          <p:nvPr/>
        </p:nvSpPr>
        <p:spPr>
          <a:xfrm>
            <a:off x="7726680" y="6528816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dirty="0">
                <a:solidFill>
                  <a:srgbClr val="7D95B2"/>
                </a:solidFill>
              </a:rPr>
              <a:t>AI Magic Mirror ба Real-Time Object Detection систем  •  3/8</a:t>
            </a:r>
            <a:endParaRPr lang="en-US" sz="8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moody_high_tech_surveillance_analytics_style_sc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1F">
              <a:alpha val="80000"/>
            </a:srgbClr>
          </a:solidFill>
          <a:ln w="12700">
            <a:solidFill>
              <a:srgbClr val="03101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Өгөгдөл / Dataset</a:t>
            </a:r>
            <a:endParaRPr lang="en-US" sz="2350" dirty="0"/>
          </a:p>
        </p:txBody>
      </p:sp>
      <p:sp>
        <p:nvSpPr>
          <p:cNvPr id="5" name="Shape 2"/>
          <p:cNvSpPr/>
          <p:nvPr/>
        </p:nvSpPr>
        <p:spPr>
          <a:xfrm>
            <a:off x="502920" y="804672"/>
            <a:ext cx="1051560" cy="0"/>
          </a:xfrm>
          <a:prstGeom prst="line">
            <a:avLst/>
          </a:prstGeom>
          <a:noFill/>
          <a:ln w="38100">
            <a:solidFill>
              <a:srgbClr val="00E5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00784" y="7132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7BEDB"/>
                </a:solidFill>
              </a:rPr>
              <a:t>Real-time өгөгдөл, class сонголт ба preprocessing</a:t>
            </a:r>
            <a:endParaRPr lang="en-US" sz="980" dirty="0"/>
          </a:p>
        </p:txBody>
      </p:sp>
      <p:sp>
        <p:nvSpPr>
          <p:cNvPr id="7" name="Shape 4"/>
          <p:cNvSpPr/>
          <p:nvPr/>
        </p:nvSpPr>
        <p:spPr>
          <a:xfrm>
            <a:off x="640080" y="1078992"/>
            <a:ext cx="3520440" cy="5138928"/>
          </a:xfrm>
          <a:prstGeom prst="roundRect">
            <a:avLst>
              <a:gd name="adj" fmla="val 2078"/>
            </a:avLst>
          </a:prstGeom>
          <a:solidFill>
            <a:srgbClr val="0B1E35">
              <a:alpha val="97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3533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0E5FF"/>
                </a:solidFill>
              </a:rPr>
              <a:t>1. INPUT SOURCE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914400" y="1828800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60704" y="176479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5" dirty="0">
                <a:solidFill>
                  <a:srgbClr val="F7FBFF"/>
                </a:solidFill>
              </a:rPr>
              <a:t>Live webcam stream: хэрэглэгчийн бодит орчны frame</a:t>
            </a:r>
            <a:endParaRPr lang="en-US" sz="925" dirty="0"/>
          </a:p>
        </p:txBody>
      </p:sp>
      <p:sp>
        <p:nvSpPr>
          <p:cNvPr id="11" name="Shape 8"/>
          <p:cNvSpPr/>
          <p:nvPr/>
        </p:nvSpPr>
        <p:spPr>
          <a:xfrm>
            <a:off x="914400" y="2331720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26771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5" dirty="0">
                <a:solidFill>
                  <a:srgbClr val="F7FBFF"/>
                </a:solidFill>
              </a:rPr>
              <a:t>Upload video: бэлэн бичлэг дээр detection турших</a:t>
            </a:r>
            <a:endParaRPr lang="en-US" sz="925" dirty="0"/>
          </a:p>
        </p:txBody>
      </p:sp>
      <p:sp>
        <p:nvSpPr>
          <p:cNvPr id="13" name="Shape 10"/>
          <p:cNvSpPr/>
          <p:nvPr/>
        </p:nvSpPr>
        <p:spPr>
          <a:xfrm>
            <a:off x="914400" y="2834640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277063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5" dirty="0">
                <a:solidFill>
                  <a:srgbClr val="F7FBFF"/>
                </a:solidFill>
              </a:rPr>
              <a:t>Canvas frame capture: frontend дээр frame авч JPEG blob үүсгэнэ</a:t>
            </a:r>
            <a:endParaRPr lang="en-US" sz="925" dirty="0"/>
          </a:p>
        </p:txBody>
      </p:sp>
      <p:sp>
        <p:nvSpPr>
          <p:cNvPr id="15" name="Shape 12"/>
          <p:cNvSpPr/>
          <p:nvPr/>
        </p:nvSpPr>
        <p:spPr>
          <a:xfrm>
            <a:off x="914400" y="3337560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0704" y="327355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5" dirty="0">
                <a:solidFill>
                  <a:srgbClr val="F7FBFF"/>
                </a:solidFill>
              </a:rPr>
              <a:t>Backend рүү frame илгээж detection metadata JSON хэлбэрээр буцаана</a:t>
            </a:r>
            <a:endParaRPr lang="en-US" sz="925" dirty="0"/>
          </a:p>
        </p:txBody>
      </p:sp>
      <p:sp>
        <p:nvSpPr>
          <p:cNvPr id="17" name="Shape 14"/>
          <p:cNvSpPr/>
          <p:nvPr/>
        </p:nvSpPr>
        <p:spPr>
          <a:xfrm>
            <a:off x="4407408" y="1078992"/>
            <a:ext cx="3520440" cy="5138928"/>
          </a:xfrm>
          <a:prstGeom prst="roundRect">
            <a:avLst>
              <a:gd name="adj" fmla="val 2078"/>
            </a:avLst>
          </a:prstGeom>
          <a:solidFill>
            <a:srgbClr val="0B1E35">
              <a:alpha val="97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81728" y="13533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0E5FF"/>
                </a:solidFill>
              </a:rPr>
              <a:t>2. OBJECT CLASS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681728" y="1737360"/>
            <a:ext cx="2926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A7BEDB"/>
                </a:solidFill>
              </a:rPr>
              <a:t>Study-space monitoring хэсэгт хэрэглэгчийн орчин болон эд зүйлсийн холбоог ажиглахад хэрэгтэй class-уудыг сонгосон.</a:t>
            </a:r>
            <a:endParaRPr lang="en-US" sz="890" dirty="0"/>
          </a:p>
        </p:txBody>
      </p:sp>
      <p:sp>
        <p:nvSpPr>
          <p:cNvPr id="20" name="Shape 17"/>
          <p:cNvSpPr/>
          <p:nvPr/>
        </p:nvSpPr>
        <p:spPr>
          <a:xfrm>
            <a:off x="4681728" y="2542032"/>
            <a:ext cx="1170432" cy="283464"/>
          </a:xfrm>
          <a:prstGeom prst="roundRect">
            <a:avLst>
              <a:gd name="adj" fmla="val 19355"/>
            </a:avLst>
          </a:prstGeom>
          <a:solidFill>
            <a:srgbClr val="1EA7FF">
              <a:alpha val="88000"/>
            </a:srgbClr>
          </a:solidFill>
          <a:ln w="10160">
            <a:solidFill>
              <a:srgbClr val="1EA7FF">
                <a:alpha val="82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45736" y="2604211"/>
            <a:ext cx="10424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7FBFF"/>
                </a:solidFill>
              </a:rPr>
              <a:t>Person</a:t>
            </a:r>
            <a:endParaRPr lang="en-US" sz="760" dirty="0"/>
          </a:p>
        </p:txBody>
      </p:sp>
      <p:sp>
        <p:nvSpPr>
          <p:cNvPr id="22" name="Shape 19"/>
          <p:cNvSpPr/>
          <p:nvPr/>
        </p:nvSpPr>
        <p:spPr>
          <a:xfrm>
            <a:off x="6035040" y="2542032"/>
            <a:ext cx="1170432" cy="283464"/>
          </a:xfrm>
          <a:prstGeom prst="roundRect">
            <a:avLst>
              <a:gd name="adj" fmla="val 19355"/>
            </a:avLst>
          </a:prstGeom>
          <a:solidFill>
            <a:srgbClr val="00E5FF">
              <a:alpha val="88000"/>
            </a:srgbClr>
          </a:solidFill>
          <a:ln w="10160">
            <a:solidFill>
              <a:srgbClr val="00E5FF">
                <a:alpha val="82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99048" y="2604211"/>
            <a:ext cx="10424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7FBFF"/>
                </a:solidFill>
              </a:rPr>
              <a:t>Laptop</a:t>
            </a:r>
            <a:endParaRPr lang="en-US" sz="760" dirty="0"/>
          </a:p>
        </p:txBody>
      </p:sp>
      <p:sp>
        <p:nvSpPr>
          <p:cNvPr id="24" name="Shape 21"/>
          <p:cNvSpPr/>
          <p:nvPr/>
        </p:nvSpPr>
        <p:spPr>
          <a:xfrm>
            <a:off x="4681728" y="2980944"/>
            <a:ext cx="1170432" cy="283464"/>
          </a:xfrm>
          <a:prstGeom prst="roundRect">
            <a:avLst>
              <a:gd name="adj" fmla="val 19355"/>
            </a:avLst>
          </a:prstGeom>
          <a:solidFill>
            <a:srgbClr val="1EA7FF">
              <a:alpha val="88000"/>
            </a:srgbClr>
          </a:solidFill>
          <a:ln w="10160">
            <a:solidFill>
              <a:srgbClr val="1EA7FF">
                <a:alpha val="82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45736" y="3043123"/>
            <a:ext cx="10424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7FBFF"/>
                </a:solidFill>
              </a:rPr>
              <a:t>Cell phone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6035040" y="2980944"/>
            <a:ext cx="1170432" cy="283464"/>
          </a:xfrm>
          <a:prstGeom prst="roundRect">
            <a:avLst>
              <a:gd name="adj" fmla="val 19355"/>
            </a:avLst>
          </a:prstGeom>
          <a:solidFill>
            <a:srgbClr val="00E5FF">
              <a:alpha val="88000"/>
            </a:srgbClr>
          </a:solidFill>
          <a:ln w="10160">
            <a:solidFill>
              <a:srgbClr val="00E5FF">
                <a:alpha val="82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99048" y="3043123"/>
            <a:ext cx="10424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7FBFF"/>
                </a:solidFill>
              </a:rPr>
              <a:t>Book</a:t>
            </a:r>
            <a:endParaRPr lang="en-US" sz="760" dirty="0"/>
          </a:p>
        </p:txBody>
      </p:sp>
      <p:sp>
        <p:nvSpPr>
          <p:cNvPr id="28" name="Shape 25"/>
          <p:cNvSpPr/>
          <p:nvPr/>
        </p:nvSpPr>
        <p:spPr>
          <a:xfrm>
            <a:off x="4681728" y="3419856"/>
            <a:ext cx="1170432" cy="283464"/>
          </a:xfrm>
          <a:prstGeom prst="roundRect">
            <a:avLst>
              <a:gd name="adj" fmla="val 19355"/>
            </a:avLst>
          </a:prstGeom>
          <a:solidFill>
            <a:srgbClr val="1EA7FF">
              <a:alpha val="88000"/>
            </a:srgbClr>
          </a:solidFill>
          <a:ln w="10160">
            <a:solidFill>
              <a:srgbClr val="1EA7FF">
                <a:alpha val="8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45736" y="3482035"/>
            <a:ext cx="10424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7FBFF"/>
                </a:solidFill>
              </a:rPr>
              <a:t>Backpack</a:t>
            </a:r>
            <a:endParaRPr lang="en-US" sz="760" dirty="0"/>
          </a:p>
        </p:txBody>
      </p:sp>
      <p:sp>
        <p:nvSpPr>
          <p:cNvPr id="30" name="Shape 27"/>
          <p:cNvSpPr/>
          <p:nvPr/>
        </p:nvSpPr>
        <p:spPr>
          <a:xfrm>
            <a:off x="6035040" y="3419856"/>
            <a:ext cx="1170432" cy="283464"/>
          </a:xfrm>
          <a:prstGeom prst="roundRect">
            <a:avLst>
              <a:gd name="adj" fmla="val 19355"/>
            </a:avLst>
          </a:prstGeom>
          <a:solidFill>
            <a:srgbClr val="00E5FF">
              <a:alpha val="88000"/>
            </a:srgbClr>
          </a:solidFill>
          <a:ln w="10160">
            <a:solidFill>
              <a:srgbClr val="00E5FF">
                <a:alpha val="82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99048" y="3482035"/>
            <a:ext cx="10424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7FBFF"/>
                </a:solidFill>
              </a:rPr>
              <a:t>Bottle</a:t>
            </a:r>
            <a:endParaRPr lang="en-US" sz="760" dirty="0"/>
          </a:p>
        </p:txBody>
      </p:sp>
      <p:sp>
        <p:nvSpPr>
          <p:cNvPr id="32" name="Shape 29"/>
          <p:cNvSpPr/>
          <p:nvPr/>
        </p:nvSpPr>
        <p:spPr>
          <a:xfrm>
            <a:off x="4681728" y="3858768"/>
            <a:ext cx="1170432" cy="283464"/>
          </a:xfrm>
          <a:prstGeom prst="roundRect">
            <a:avLst>
              <a:gd name="adj" fmla="val 19355"/>
            </a:avLst>
          </a:prstGeom>
          <a:solidFill>
            <a:srgbClr val="1EA7FF">
              <a:alpha val="88000"/>
            </a:srgbClr>
          </a:solidFill>
          <a:ln w="10160">
            <a:solidFill>
              <a:srgbClr val="1EA7FF">
                <a:alpha val="82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45736" y="3920947"/>
            <a:ext cx="10424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7FBFF"/>
                </a:solidFill>
              </a:rPr>
              <a:t>Cup</a:t>
            </a:r>
            <a:endParaRPr lang="en-US" sz="760" dirty="0"/>
          </a:p>
        </p:txBody>
      </p:sp>
      <p:sp>
        <p:nvSpPr>
          <p:cNvPr id="34" name="Text 31"/>
          <p:cNvSpPr/>
          <p:nvPr/>
        </p:nvSpPr>
        <p:spPr>
          <a:xfrm>
            <a:off x="4681728" y="4480560"/>
            <a:ext cx="29260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7FBFF"/>
                </a:solidFill>
              </a:rPr>
              <a:t>Эдгээр class нь “хүн–эд зүйл” ойролцоо байдал, ownership оноолт, study орчны ашиглалт хэмжихэд хэрэглэгдэнэ.</a:t>
            </a:r>
            <a:endParaRPr lang="en-US" sz="880" dirty="0"/>
          </a:p>
        </p:txBody>
      </p:sp>
      <p:sp>
        <p:nvSpPr>
          <p:cNvPr id="35" name="Shape 32"/>
          <p:cNvSpPr/>
          <p:nvPr/>
        </p:nvSpPr>
        <p:spPr>
          <a:xfrm>
            <a:off x="8165592" y="1078992"/>
            <a:ext cx="3337560" cy="5138928"/>
          </a:xfrm>
          <a:prstGeom prst="roundRect">
            <a:avLst>
              <a:gd name="adj" fmla="val 2192"/>
            </a:avLst>
          </a:prstGeom>
          <a:solidFill>
            <a:srgbClr val="0B1E35">
              <a:alpha val="95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439912" y="13533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0E5FF"/>
                </a:solidFill>
              </a:rPr>
              <a:t>3. LANDMARK DATA</a:t>
            </a:r>
            <a:endParaRPr lang="en-US" sz="820" dirty="0"/>
          </a:p>
        </p:txBody>
      </p:sp>
      <p:sp>
        <p:nvSpPr>
          <p:cNvPr id="37" name="Shape 34"/>
          <p:cNvSpPr/>
          <p:nvPr/>
        </p:nvSpPr>
        <p:spPr>
          <a:xfrm>
            <a:off x="8430768" y="17373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0A1D34">
              <a:alpha val="96000"/>
            </a:srgbClr>
          </a:solidFill>
          <a:ln w="13970">
            <a:solidFill>
              <a:srgbClr val="1EA7FF">
                <a:alpha val="92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540496" y="1865376"/>
            <a:ext cx="292608" cy="292608"/>
          </a:xfrm>
          <a:prstGeom prst="ellipse">
            <a:avLst/>
          </a:prstGeom>
          <a:solidFill>
            <a:srgbClr val="1EA7FF">
              <a:alpha val="94000"/>
            </a:srgbClr>
          </a:solidFill>
          <a:ln w="7620">
            <a:solidFill>
              <a:srgbClr val="00E5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595360" y="1924812"/>
            <a:ext cx="1828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FBFF"/>
                </a:solidFill>
              </a:rPr>
              <a:t>A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8906256" y="185623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7FBFF"/>
                </a:solidFill>
              </a:rPr>
              <a:t>Face Landmarker</a:t>
            </a:r>
            <a:endParaRPr lang="en-US" sz="1080" dirty="0"/>
          </a:p>
        </p:txBody>
      </p:sp>
      <p:sp>
        <p:nvSpPr>
          <p:cNvPr id="41" name="Text 38"/>
          <p:cNvSpPr/>
          <p:nvPr/>
        </p:nvSpPr>
        <p:spPr>
          <a:xfrm>
            <a:off x="8577072" y="2194560"/>
            <a:ext cx="240487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7BEDB"/>
                </a:solidFill>
              </a:rPr>
              <a:t>Нүүрний цэгүүдээс eye distance, nose, forehead, mouth region ашиглан filter-ийн хэмжээ, байрлал, angle тооцно.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8430768" y="3493008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0A1D34">
              <a:alpha val="96000"/>
            </a:srgbClr>
          </a:solidFill>
          <a:ln w="13970">
            <a:solidFill>
              <a:srgbClr val="00E5FF">
                <a:alpha val="92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540496" y="3621024"/>
            <a:ext cx="292608" cy="292608"/>
          </a:xfrm>
          <a:prstGeom prst="ellipse">
            <a:avLst/>
          </a:prstGeom>
          <a:solidFill>
            <a:srgbClr val="00E5FF">
              <a:alpha val="94000"/>
            </a:srgbClr>
          </a:solidFill>
          <a:ln w="7620">
            <a:solidFill>
              <a:srgbClr val="00E5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595360" y="3680460"/>
            <a:ext cx="1828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FBFF"/>
                </a:solidFill>
              </a:rPr>
              <a:t>B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8906256" y="361188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7FBFF"/>
                </a:solidFill>
              </a:rPr>
              <a:t>Hand Landmarker</a:t>
            </a:r>
            <a:endParaRPr lang="en-US" sz="1080" dirty="0"/>
          </a:p>
        </p:txBody>
      </p:sp>
      <p:sp>
        <p:nvSpPr>
          <p:cNvPr id="46" name="Text 43"/>
          <p:cNvSpPr/>
          <p:nvPr/>
        </p:nvSpPr>
        <p:spPr>
          <a:xfrm>
            <a:off x="8577072" y="3950208"/>
            <a:ext cx="2404872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7BEDB"/>
                </a:solidFill>
              </a:rPr>
              <a:t>Index fingertip болон wrist landmark ашиглан гарын хөдөлгөөн, velocity, drum hit event илрүүлнэ.</a:t>
            </a:r>
            <a:endParaRPr lang="en-US" sz="880" dirty="0"/>
          </a:p>
        </p:txBody>
      </p:sp>
      <p:sp>
        <p:nvSpPr>
          <p:cNvPr id="47" name="Text 44"/>
          <p:cNvSpPr/>
          <p:nvPr/>
        </p:nvSpPr>
        <p:spPr>
          <a:xfrm>
            <a:off x="8430768" y="5230368"/>
            <a:ext cx="26974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7E8F9"/>
                </a:solidFill>
              </a:rPr>
              <a:t>Preprocessing: coordinate mapping, mirrored camera correction, frame-to-canvas scale conversion.</a:t>
            </a:r>
            <a:endParaRPr lang="en-US" sz="840" dirty="0"/>
          </a:p>
        </p:txBody>
      </p:sp>
      <p:sp>
        <p:nvSpPr>
          <p:cNvPr id="48" name="Text 45"/>
          <p:cNvSpPr/>
          <p:nvPr/>
        </p:nvSpPr>
        <p:spPr>
          <a:xfrm>
            <a:off x="7726680" y="6528816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dirty="0">
                <a:solidFill>
                  <a:srgbClr val="7D95B2"/>
                </a:solidFill>
              </a:rPr>
              <a:t>AI Magic Mirror ба Real-Time Object Detection систем  •  4/8</a:t>
            </a:r>
            <a:endParaRPr lang="en-US" sz="8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futuristic_technology_themed_digital_backg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1F">
              <a:alpha val="80000"/>
            </a:srgbClr>
          </a:solidFill>
          <a:ln w="12700">
            <a:solidFill>
              <a:srgbClr val="03101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Аргачлал / Method</a:t>
            </a:r>
            <a:endParaRPr lang="en-US" sz="2350" dirty="0"/>
          </a:p>
        </p:txBody>
      </p:sp>
      <p:sp>
        <p:nvSpPr>
          <p:cNvPr id="5" name="Shape 2"/>
          <p:cNvSpPr/>
          <p:nvPr/>
        </p:nvSpPr>
        <p:spPr>
          <a:xfrm>
            <a:off x="502920" y="804672"/>
            <a:ext cx="1051560" cy="0"/>
          </a:xfrm>
          <a:prstGeom prst="line">
            <a:avLst/>
          </a:prstGeom>
          <a:noFill/>
          <a:ln w="38100">
            <a:solidFill>
              <a:srgbClr val="00E5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00784" y="7132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7BEDB"/>
                </a:solidFill>
              </a:rPr>
              <a:t>Architecture flow, технологи стек ба алгоритмын давхарга</a:t>
            </a:r>
            <a:endParaRPr lang="en-US" sz="980" dirty="0"/>
          </a:p>
        </p:txBody>
      </p:sp>
      <p:sp>
        <p:nvSpPr>
          <p:cNvPr id="7" name="Shape 4"/>
          <p:cNvSpPr/>
          <p:nvPr/>
        </p:nvSpPr>
        <p:spPr>
          <a:xfrm>
            <a:off x="621792" y="1170432"/>
            <a:ext cx="2304288" cy="1417320"/>
          </a:xfrm>
          <a:prstGeom prst="roundRect">
            <a:avLst>
              <a:gd name="adj" fmla="val 5161"/>
            </a:avLst>
          </a:prstGeom>
          <a:solidFill>
            <a:srgbClr val="0A1D34">
              <a:alpha val="96000"/>
            </a:srgbClr>
          </a:solidFill>
          <a:ln w="13970">
            <a:solidFill>
              <a:srgbClr val="1EA7FF">
                <a:alpha val="9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298448"/>
            <a:ext cx="292608" cy="292608"/>
          </a:xfrm>
          <a:prstGeom prst="ellipse">
            <a:avLst/>
          </a:prstGeom>
          <a:solidFill>
            <a:srgbClr val="1EA7FF">
              <a:alpha val="94000"/>
            </a:srgbClr>
          </a:solidFill>
          <a:ln w="7620">
            <a:solidFill>
              <a:srgbClr val="00E5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357884"/>
            <a:ext cx="1828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FBFF"/>
                </a:solidFill>
              </a:rPr>
              <a:t>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97280" y="12893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7FBFF"/>
                </a:solidFill>
              </a:rPr>
              <a:t>Input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768096" y="1627632"/>
            <a:ext cx="201168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7BEDB"/>
                </a:solidFill>
              </a:rPr>
              <a:t>Webcam / Upload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7BEDB"/>
                </a:solidFill>
              </a:rPr>
              <a:t>Frame capture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2953512" y="1874520"/>
            <a:ext cx="502920" cy="0"/>
          </a:xfrm>
          <a:prstGeom prst="line">
            <a:avLst/>
          </a:prstGeom>
          <a:noFill/>
          <a:ln w="20320">
            <a:solidFill>
              <a:srgbClr val="00E5FF">
                <a:alpha val="82000"/>
              </a:srgbClr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502152" y="1170432"/>
            <a:ext cx="2304288" cy="1417320"/>
          </a:xfrm>
          <a:prstGeom prst="roundRect">
            <a:avLst>
              <a:gd name="adj" fmla="val 5161"/>
            </a:avLst>
          </a:prstGeom>
          <a:solidFill>
            <a:srgbClr val="0A1D34">
              <a:alpha val="96000"/>
            </a:srgbClr>
          </a:solidFill>
          <a:ln w="13970">
            <a:solidFill>
              <a:srgbClr val="00E5FF">
                <a:alpha val="92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11880" y="1298448"/>
            <a:ext cx="292608" cy="292608"/>
          </a:xfrm>
          <a:prstGeom prst="ellipse">
            <a:avLst/>
          </a:prstGeom>
          <a:solidFill>
            <a:srgbClr val="00E5FF">
              <a:alpha val="94000"/>
            </a:srgbClr>
          </a:solidFill>
          <a:ln w="7620">
            <a:solidFill>
              <a:srgbClr val="00E5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66744" y="1357884"/>
            <a:ext cx="1828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FBFF"/>
                </a:solidFill>
              </a:rPr>
              <a:t>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977640" y="12893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7FBFF"/>
                </a:solidFill>
              </a:rPr>
              <a:t>Frontend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3648456" y="1627632"/>
            <a:ext cx="201168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7BEDB"/>
                </a:solidFill>
              </a:rPr>
              <a:t>Next.js 14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7BEDB"/>
                </a:solidFill>
              </a:rPr>
              <a:t>React + TypeScript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7BEDB"/>
                </a:solidFill>
              </a:rPr>
              <a:t>Canvas 2D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5833872" y="1874520"/>
            <a:ext cx="502920" cy="0"/>
          </a:xfrm>
          <a:prstGeom prst="line">
            <a:avLst/>
          </a:prstGeom>
          <a:noFill/>
          <a:ln w="20320">
            <a:solidFill>
              <a:srgbClr val="00E5FF">
                <a:alpha val="82000"/>
              </a:srgbClr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382512" y="1170432"/>
            <a:ext cx="2304288" cy="1417320"/>
          </a:xfrm>
          <a:prstGeom prst="roundRect">
            <a:avLst>
              <a:gd name="adj" fmla="val 5161"/>
            </a:avLst>
          </a:prstGeom>
          <a:solidFill>
            <a:srgbClr val="0A1D34">
              <a:alpha val="96000"/>
            </a:srgbClr>
          </a:solidFill>
          <a:ln w="13970">
            <a:solidFill>
              <a:srgbClr val="1EA7FF">
                <a:alpha val="92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92240" y="1298448"/>
            <a:ext cx="292608" cy="292608"/>
          </a:xfrm>
          <a:prstGeom prst="ellipse">
            <a:avLst/>
          </a:prstGeom>
          <a:solidFill>
            <a:srgbClr val="1EA7FF">
              <a:alpha val="94000"/>
            </a:srgbClr>
          </a:solidFill>
          <a:ln w="7620">
            <a:solidFill>
              <a:srgbClr val="00E5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47104" y="1357884"/>
            <a:ext cx="1828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FBFF"/>
                </a:solidFill>
              </a:rPr>
              <a:t>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858000" y="12893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7FBFF"/>
                </a:solidFill>
              </a:rPr>
              <a:t>Backend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6528816" y="1627632"/>
            <a:ext cx="201168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7BEDB"/>
                </a:solidFill>
              </a:rPr>
              <a:t>FastAPI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7BEDB"/>
                </a:solidFill>
              </a:rPr>
              <a:t>OpenCV + NumPy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7BEDB"/>
                </a:solidFill>
              </a:rPr>
              <a:t>YOLO + ByteTrack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8714232" y="1874520"/>
            <a:ext cx="502920" cy="0"/>
          </a:xfrm>
          <a:prstGeom prst="line">
            <a:avLst/>
          </a:prstGeom>
          <a:noFill/>
          <a:ln w="20320">
            <a:solidFill>
              <a:srgbClr val="00E5FF">
                <a:alpha val="82000"/>
              </a:srgbClr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9262872" y="1170432"/>
            <a:ext cx="2304288" cy="1417320"/>
          </a:xfrm>
          <a:prstGeom prst="roundRect">
            <a:avLst>
              <a:gd name="adj" fmla="val 5161"/>
            </a:avLst>
          </a:prstGeom>
          <a:solidFill>
            <a:srgbClr val="0A1D34">
              <a:alpha val="96000"/>
            </a:srgbClr>
          </a:solidFill>
          <a:ln w="13970">
            <a:solidFill>
              <a:srgbClr val="00E5FF">
                <a:alpha val="92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372600" y="1298448"/>
            <a:ext cx="292608" cy="292608"/>
          </a:xfrm>
          <a:prstGeom prst="ellipse">
            <a:avLst/>
          </a:prstGeom>
          <a:solidFill>
            <a:srgbClr val="00E5FF">
              <a:alpha val="94000"/>
            </a:srgbClr>
          </a:solidFill>
          <a:ln w="7620">
            <a:solidFill>
              <a:srgbClr val="00E5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427464" y="1357884"/>
            <a:ext cx="1828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FBFF"/>
                </a:solidFill>
              </a:rPr>
              <a:t>4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9738360" y="12893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7FBFF"/>
                </a:solidFill>
              </a:rPr>
              <a:t>Interaction</a:t>
            </a:r>
            <a:endParaRPr lang="en-US" sz="1080" dirty="0"/>
          </a:p>
        </p:txBody>
      </p:sp>
      <p:sp>
        <p:nvSpPr>
          <p:cNvPr id="29" name="Text 26"/>
          <p:cNvSpPr/>
          <p:nvPr/>
        </p:nvSpPr>
        <p:spPr>
          <a:xfrm>
            <a:off x="9409176" y="1627632"/>
            <a:ext cx="201168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7BEDB"/>
                </a:solidFill>
              </a:rPr>
              <a:t>AR Filter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7BEDB"/>
                </a:solidFill>
              </a:rPr>
              <a:t>Drum Game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7BEDB"/>
                </a:solidFill>
              </a:rPr>
              <a:t>Study Monitor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658368" y="3054096"/>
            <a:ext cx="5440680" cy="2651760"/>
          </a:xfrm>
          <a:prstGeom prst="roundRect">
            <a:avLst>
              <a:gd name="adj" fmla="val 2759"/>
            </a:avLst>
          </a:prstGeom>
          <a:solidFill>
            <a:srgbClr val="0B1E35">
              <a:alpha val="96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32688" y="33101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0E5FF"/>
                </a:solidFill>
              </a:rPr>
              <a:t>TECHNOLOGY STACK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932688" y="3776472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78992" y="3712464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5" dirty="0">
                <a:solidFill>
                  <a:srgbClr val="F7FBFF"/>
                </a:solidFill>
              </a:rPr>
              <a:t>Backend: Python, FastAPI, OpenCV, NumPy, Ultralytics YOLO, ByteTrack</a:t>
            </a:r>
            <a:endParaRPr lang="en-US" sz="885" dirty="0"/>
          </a:p>
        </p:txBody>
      </p:sp>
      <p:sp>
        <p:nvSpPr>
          <p:cNvPr id="34" name="Shape 31"/>
          <p:cNvSpPr/>
          <p:nvPr/>
        </p:nvSpPr>
        <p:spPr>
          <a:xfrm>
            <a:off x="932688" y="4206240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78992" y="414223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5" dirty="0">
                <a:solidFill>
                  <a:srgbClr val="F7FBFF"/>
                </a:solidFill>
              </a:rPr>
              <a:t>Frontend: Next.js 14, React hooks, TypeScript, Tailwind CSS, Canvas 2D API</a:t>
            </a:r>
            <a:endParaRPr lang="en-US" sz="885" dirty="0"/>
          </a:p>
        </p:txBody>
      </p:sp>
      <p:sp>
        <p:nvSpPr>
          <p:cNvPr id="36" name="Shape 33"/>
          <p:cNvSpPr/>
          <p:nvPr/>
        </p:nvSpPr>
        <p:spPr>
          <a:xfrm>
            <a:off x="932688" y="4636008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78992" y="4572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5" dirty="0">
                <a:solidFill>
                  <a:srgbClr val="F7FBFF"/>
                </a:solidFill>
              </a:rPr>
              <a:t>Computer Vision: MediaPipe Tasks Vision — Face / Hand Landmarker</a:t>
            </a:r>
            <a:endParaRPr lang="en-US" sz="885" dirty="0"/>
          </a:p>
        </p:txBody>
      </p:sp>
      <p:sp>
        <p:nvSpPr>
          <p:cNvPr id="38" name="Shape 35"/>
          <p:cNvSpPr/>
          <p:nvPr/>
        </p:nvSpPr>
        <p:spPr>
          <a:xfrm>
            <a:off x="932688" y="5065776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78992" y="500176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5" dirty="0">
                <a:solidFill>
                  <a:srgbClr val="F7FBFF"/>
                </a:solidFill>
              </a:rPr>
              <a:t>Audio: Web Audio API — oscillator, noise buffer, envelope scheduling</a:t>
            </a:r>
            <a:endParaRPr lang="en-US" sz="885" dirty="0"/>
          </a:p>
        </p:txBody>
      </p:sp>
      <p:sp>
        <p:nvSpPr>
          <p:cNvPr id="40" name="Shape 37"/>
          <p:cNvSpPr/>
          <p:nvPr/>
        </p:nvSpPr>
        <p:spPr>
          <a:xfrm>
            <a:off x="6400800" y="3054096"/>
            <a:ext cx="5138928" cy="2651760"/>
          </a:xfrm>
          <a:prstGeom prst="roundRect">
            <a:avLst>
              <a:gd name="adj" fmla="val 2759"/>
            </a:avLst>
          </a:prstGeom>
          <a:solidFill>
            <a:srgbClr val="0B1E35">
              <a:alpha val="96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75120" y="33101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0E5FF"/>
                </a:solidFill>
              </a:rPr>
              <a:t>АЛГОРИТМЫН ШИЙДЛҮҮД</a:t>
            </a:r>
            <a:endParaRPr lang="en-US" sz="820" dirty="0"/>
          </a:p>
        </p:txBody>
      </p:sp>
      <p:sp>
        <p:nvSpPr>
          <p:cNvPr id="42" name="Shape 39"/>
          <p:cNvSpPr/>
          <p:nvPr/>
        </p:nvSpPr>
        <p:spPr>
          <a:xfrm>
            <a:off x="6675120" y="3776472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821424" y="371246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5" dirty="0">
                <a:solidFill>
                  <a:srgbClr val="F7FBFF"/>
                </a:solidFill>
              </a:rPr>
              <a:t>EMA: bbox coordinate-ийг өмнөх frame-тэй жигдлэж jitter багасгана</a:t>
            </a:r>
            <a:endParaRPr lang="en-US" sz="875" dirty="0"/>
          </a:p>
        </p:txBody>
      </p:sp>
      <p:sp>
        <p:nvSpPr>
          <p:cNvPr id="44" name="Shape 41"/>
          <p:cNvSpPr/>
          <p:nvPr/>
        </p:nvSpPr>
        <p:spPr>
          <a:xfrm>
            <a:off x="6675120" y="4206240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821424" y="414223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5" dirty="0">
                <a:solidFill>
                  <a:srgbClr val="F7FBFF"/>
                </a:solidFill>
              </a:rPr>
              <a:t>IoU matching: track_id байхгүй үед өмнөх box-той давхцлаар холбодог</a:t>
            </a:r>
            <a:endParaRPr lang="en-US" sz="875" dirty="0"/>
          </a:p>
        </p:txBody>
      </p:sp>
      <p:sp>
        <p:nvSpPr>
          <p:cNvPr id="46" name="Shape 43"/>
          <p:cNvSpPr/>
          <p:nvPr/>
        </p:nvSpPr>
        <p:spPr>
          <a:xfrm>
            <a:off x="6675120" y="4636008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821424" y="457200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5" dirty="0">
                <a:solidFill>
                  <a:srgbClr val="F7FBFF"/>
                </a:solidFill>
              </a:rPr>
              <a:t>Velocity reversal: fingertip хурдан доошлоод удаашрах мөчийг drum hit гэж үзнэ</a:t>
            </a:r>
            <a:endParaRPr lang="en-US" sz="875" dirty="0"/>
          </a:p>
        </p:txBody>
      </p:sp>
      <p:sp>
        <p:nvSpPr>
          <p:cNvPr id="48" name="Shape 45"/>
          <p:cNvSpPr/>
          <p:nvPr/>
        </p:nvSpPr>
        <p:spPr>
          <a:xfrm>
            <a:off x="6675120" y="5065776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821424" y="500176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5" dirty="0">
                <a:solidFill>
                  <a:srgbClr val="F7FBFF"/>
                </a:solidFill>
              </a:rPr>
              <a:t>ByteTrack: object identity-г frame хооронд хадгалж visualization тогтворжуулна</a:t>
            </a:r>
            <a:endParaRPr lang="en-US" sz="875" dirty="0"/>
          </a:p>
        </p:txBody>
      </p:sp>
      <p:sp>
        <p:nvSpPr>
          <p:cNvPr id="50" name="Shape 47"/>
          <p:cNvSpPr/>
          <p:nvPr/>
        </p:nvSpPr>
        <p:spPr>
          <a:xfrm>
            <a:off x="1143000" y="5879592"/>
            <a:ext cx="9921240" cy="384048"/>
          </a:xfrm>
          <a:prstGeom prst="roundRect">
            <a:avLst>
              <a:gd name="adj" fmla="val 19048"/>
            </a:avLst>
          </a:prstGeom>
          <a:solidFill>
            <a:srgbClr val="0A2038">
              <a:alpha val="93000"/>
            </a:srgbClr>
          </a:solidFill>
          <a:ln w="13970">
            <a:solidFill>
              <a:srgbClr val="00E5FF">
                <a:alpha val="92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371600" y="5998464"/>
            <a:ext cx="94640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7E8F9"/>
                </a:solidFill>
              </a:rPr>
              <a:t>Pipeline: Capture → Inference / Landmark detection → Tracking &amp; smoothing → Coordinate correction → Canvas overlay / audio feedback.</a:t>
            </a:r>
            <a:endParaRPr lang="en-US" sz="890" dirty="0"/>
          </a:p>
        </p:txBody>
      </p:sp>
      <p:sp>
        <p:nvSpPr>
          <p:cNvPr id="52" name="Text 49"/>
          <p:cNvSpPr/>
          <p:nvPr/>
        </p:nvSpPr>
        <p:spPr>
          <a:xfrm>
            <a:off x="7726680" y="6528816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dirty="0">
                <a:solidFill>
                  <a:srgbClr val="7D95B2"/>
                </a:solidFill>
              </a:rPr>
              <a:t>AI Magic Mirror ба Real-Time Object Detection систем  •  5/8</a:t>
            </a:r>
            <a:endParaRPr lang="en-US" sz="8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futuristic_high_tech_ui_scene_in_a_dark_blue_ro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1F">
              <a:alpha val="80000"/>
            </a:srgbClr>
          </a:solidFill>
          <a:ln w="12700">
            <a:solidFill>
              <a:srgbClr val="03101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Үр дүн / Result — 1-р хэсэг</a:t>
            </a:r>
            <a:endParaRPr lang="en-US" sz="2350" dirty="0"/>
          </a:p>
        </p:txBody>
      </p:sp>
      <p:sp>
        <p:nvSpPr>
          <p:cNvPr id="5" name="Shape 2"/>
          <p:cNvSpPr/>
          <p:nvPr/>
        </p:nvSpPr>
        <p:spPr>
          <a:xfrm>
            <a:off x="502920" y="804672"/>
            <a:ext cx="1051560" cy="0"/>
          </a:xfrm>
          <a:prstGeom prst="line">
            <a:avLst/>
          </a:prstGeom>
          <a:noFill/>
          <a:ln w="38100">
            <a:solidFill>
              <a:srgbClr val="00E5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00784" y="7132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7BEDB"/>
                </a:solidFill>
              </a:rPr>
              <a:t>Object Detection ба Magic Mirror AR Filter-ийн сайжруулалт</a:t>
            </a:r>
            <a:endParaRPr lang="en-US" sz="980" dirty="0"/>
          </a:p>
        </p:txBody>
      </p:sp>
      <p:sp>
        <p:nvSpPr>
          <p:cNvPr id="7" name="Shape 4"/>
          <p:cNvSpPr/>
          <p:nvPr/>
        </p:nvSpPr>
        <p:spPr>
          <a:xfrm>
            <a:off x="658368" y="1069848"/>
            <a:ext cx="5349240" cy="5193792"/>
          </a:xfrm>
          <a:prstGeom prst="roundRect">
            <a:avLst>
              <a:gd name="adj" fmla="val 1408"/>
            </a:avLst>
          </a:prstGeom>
          <a:solidFill>
            <a:srgbClr val="0B1E35">
              <a:alpha val="97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344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0E5FF"/>
                </a:solidFill>
              </a:rPr>
              <a:t>OBJECT DETECTION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932688" y="1819656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1755648"/>
            <a:ext cx="4681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5" dirty="0">
                <a:solidFill>
                  <a:srgbClr val="F7FBFF"/>
                </a:solidFill>
              </a:rPr>
              <a:t>Live camera болон upload video дээр frame-by-frame detection ажилласан.</a:t>
            </a:r>
            <a:endParaRPr lang="en-US" sz="965" dirty="0"/>
          </a:p>
        </p:txBody>
      </p:sp>
      <p:sp>
        <p:nvSpPr>
          <p:cNvPr id="11" name="Shape 8"/>
          <p:cNvSpPr/>
          <p:nvPr/>
        </p:nvSpPr>
        <p:spPr>
          <a:xfrm>
            <a:off x="932688" y="2304288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240280"/>
            <a:ext cx="4681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5" dirty="0">
                <a:solidFill>
                  <a:srgbClr val="F7FBFF"/>
                </a:solidFill>
              </a:rPr>
              <a:t>Backend талд YOLO inference, боломжтой үед ByteTrack tracking ашигласан.</a:t>
            </a:r>
            <a:endParaRPr lang="en-US" sz="965" dirty="0"/>
          </a:p>
        </p:txBody>
      </p:sp>
      <p:sp>
        <p:nvSpPr>
          <p:cNvPr id="13" name="Shape 10"/>
          <p:cNvSpPr/>
          <p:nvPr/>
        </p:nvSpPr>
        <p:spPr>
          <a:xfrm>
            <a:off x="932688" y="2788920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2724912"/>
            <a:ext cx="4681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5" dirty="0">
                <a:solidFill>
                  <a:srgbClr val="F7FBFF"/>
                </a:solidFill>
              </a:rPr>
              <a:t>Frontend stabilizer нь raw detection-ийг шууд зурахгүйгээр EMA smoothing, IoU matching, short hold logic хэрэглэсэн.</a:t>
            </a:r>
            <a:endParaRPr lang="en-US" sz="965" dirty="0"/>
          </a:p>
        </p:txBody>
      </p:sp>
      <p:sp>
        <p:nvSpPr>
          <p:cNvPr id="15" name="Shape 12"/>
          <p:cNvSpPr/>
          <p:nvPr/>
        </p:nvSpPr>
        <p:spPr>
          <a:xfrm>
            <a:off x="932688" y="3273552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8992" y="3209544"/>
            <a:ext cx="4681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5" dirty="0">
                <a:solidFill>
                  <a:srgbClr val="F7FBFF"/>
                </a:solidFill>
              </a:rPr>
              <a:t>Үр дүнд нь bbox савлалт багасаж, false positive түр харагдах тохиолдол буурсан.</a:t>
            </a:r>
            <a:endParaRPr lang="en-US" sz="965" dirty="0"/>
          </a:p>
        </p:txBody>
      </p:sp>
      <p:sp>
        <p:nvSpPr>
          <p:cNvPr id="17" name="Shape 14"/>
          <p:cNvSpPr/>
          <p:nvPr/>
        </p:nvSpPr>
        <p:spPr>
          <a:xfrm>
            <a:off x="1078992" y="4370832"/>
            <a:ext cx="1051560" cy="603504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5568" y="448056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00E5FF"/>
                </a:solidFill>
              </a:rPr>
              <a:t>person 0.89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523744" y="4151376"/>
            <a:ext cx="1261872" cy="768096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1EA7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78608" y="4261104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EA7FF"/>
                </a:solidFill>
              </a:rPr>
              <a:t>laptop 0.92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251960" y="4334256"/>
            <a:ext cx="1170432" cy="676656"/>
          </a:xfrm>
          <a:prstGeom prst="roundRect">
            <a:avLst>
              <a:gd name="adj" fmla="val 10811"/>
            </a:avLst>
          </a:prstGeom>
          <a:solidFill>
            <a:srgbClr val="081B30">
              <a:alpha val="92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15968" y="4407408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</a:rPr>
              <a:t>EMA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315968" y="472744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A7BEDB"/>
                </a:solidFill>
              </a:rPr>
              <a:t>smooth bbox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6236208" y="1069848"/>
            <a:ext cx="5257800" cy="5193792"/>
          </a:xfrm>
          <a:prstGeom prst="roundRect">
            <a:avLst>
              <a:gd name="adj" fmla="val 1408"/>
            </a:avLst>
          </a:prstGeom>
          <a:solidFill>
            <a:srgbClr val="0B1E35">
              <a:alpha val="92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10528" y="13441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0E5FF"/>
                </a:solidFill>
              </a:rPr>
              <a:t>MAGIC MIRROR AR FILTER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6510528" y="1819656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56832" y="17556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5" dirty="0">
                <a:solidFill>
                  <a:srgbClr val="F7FBFF"/>
                </a:solidFill>
              </a:rPr>
              <a:t>MediaPipe Face Landmarker-ээр нүүрний landmark цэгүүдийг browser-side илрүүлсэн.</a:t>
            </a:r>
            <a:endParaRPr lang="en-US" sz="925" dirty="0"/>
          </a:p>
        </p:txBody>
      </p:sp>
      <p:sp>
        <p:nvSpPr>
          <p:cNvPr id="28" name="Shape 25"/>
          <p:cNvSpPr/>
          <p:nvPr/>
        </p:nvSpPr>
        <p:spPr>
          <a:xfrm>
            <a:off x="6510528" y="2304288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56832" y="2240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5" dirty="0">
                <a:solidFill>
                  <a:srgbClr val="F7FBFF"/>
                </a:solidFill>
              </a:rPr>
              <a:t>Sunglasses, Party hat, Devil horns filter-үүд нүүрний хэмжээ, eye distance, forehead position-той таарсан.</a:t>
            </a:r>
            <a:endParaRPr lang="en-US" sz="925" dirty="0"/>
          </a:p>
        </p:txBody>
      </p:sp>
      <p:sp>
        <p:nvSpPr>
          <p:cNvPr id="30" name="Shape 27"/>
          <p:cNvSpPr/>
          <p:nvPr/>
        </p:nvSpPr>
        <p:spPr>
          <a:xfrm>
            <a:off x="6510528" y="2788920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56832" y="27249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5" dirty="0">
                <a:solidFill>
                  <a:srgbClr val="F7FBFF"/>
                </a:solidFill>
              </a:rPr>
              <a:t>Mirror coordinate correction хийснээр selfie camera дээр filter upside-down эсвэл буруу өнцгөөр харагдах асуудал засагдсан.</a:t>
            </a:r>
            <a:endParaRPr lang="en-US" sz="925" dirty="0"/>
          </a:p>
        </p:txBody>
      </p:sp>
      <p:sp>
        <p:nvSpPr>
          <p:cNvPr id="32" name="Shape 29"/>
          <p:cNvSpPr/>
          <p:nvPr/>
        </p:nvSpPr>
        <p:spPr>
          <a:xfrm>
            <a:off x="6510528" y="3273552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56832" y="32095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5" dirty="0">
                <a:solidFill>
                  <a:srgbClr val="F7FBFF"/>
                </a:solidFill>
              </a:rPr>
              <a:t>numFaces тохиргоо болон loop logic нэмснээр 2 хүний нүүр дээр зэрэг filter ажилласан.</a:t>
            </a:r>
            <a:endParaRPr lang="en-US" sz="925" dirty="0"/>
          </a:p>
        </p:txBody>
      </p:sp>
      <p:sp>
        <p:nvSpPr>
          <p:cNvPr id="34" name="Shape 31"/>
          <p:cNvSpPr/>
          <p:nvPr/>
        </p:nvSpPr>
        <p:spPr>
          <a:xfrm>
            <a:off x="6675120" y="4919472"/>
            <a:ext cx="1124712" cy="676656"/>
          </a:xfrm>
          <a:prstGeom prst="roundRect">
            <a:avLst>
              <a:gd name="adj" fmla="val 10811"/>
            </a:avLst>
          </a:prstGeom>
          <a:solidFill>
            <a:srgbClr val="081B30">
              <a:alpha val="92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39128" y="4992624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</a:rPr>
              <a:t>2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6739128" y="531266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A7BEDB"/>
                </a:solidFill>
              </a:rPr>
              <a:t>multi-face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8156448" y="4919472"/>
            <a:ext cx="1124712" cy="676656"/>
          </a:xfrm>
          <a:prstGeom prst="roundRect">
            <a:avLst>
              <a:gd name="adj" fmla="val 10811"/>
            </a:avLst>
          </a:prstGeom>
          <a:solidFill>
            <a:srgbClr val="081B30">
              <a:alpha val="92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220456" y="4992624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</a:rPr>
              <a:t>AR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8220456" y="531266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A7BEDB"/>
                </a:solidFill>
              </a:rPr>
              <a:t>overlay</a:t>
            </a:r>
            <a:endParaRPr lang="en-US" sz="740" dirty="0"/>
          </a:p>
        </p:txBody>
      </p:sp>
      <p:sp>
        <p:nvSpPr>
          <p:cNvPr id="40" name="Shape 37"/>
          <p:cNvSpPr/>
          <p:nvPr/>
        </p:nvSpPr>
        <p:spPr>
          <a:xfrm>
            <a:off x="9646920" y="4919472"/>
            <a:ext cx="1124712" cy="676656"/>
          </a:xfrm>
          <a:prstGeom prst="roundRect">
            <a:avLst>
              <a:gd name="adj" fmla="val 10811"/>
            </a:avLst>
          </a:prstGeom>
          <a:solidFill>
            <a:srgbClr val="081B30">
              <a:alpha val="92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710928" y="4992624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</a:rPr>
              <a:t>✓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9710928" y="531266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A7BEDB"/>
                </a:solidFill>
              </a:rPr>
              <a:t>mirror fix</a:t>
            </a:r>
            <a:endParaRPr lang="en-US" sz="740" dirty="0"/>
          </a:p>
        </p:txBody>
      </p:sp>
      <p:sp>
        <p:nvSpPr>
          <p:cNvPr id="43" name="Text 40"/>
          <p:cNvSpPr/>
          <p:nvPr/>
        </p:nvSpPr>
        <p:spPr>
          <a:xfrm>
            <a:off x="7726680" y="6528816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dirty="0">
                <a:solidFill>
                  <a:srgbClr val="7D95B2"/>
                </a:solidFill>
              </a:rPr>
              <a:t>AI Magic Mirror ба Real-Time Object Detection систем  •  6/8</a:t>
            </a:r>
            <a:endParaRPr lang="en-US" sz="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futuristic_tech_themed_scene_with_a_neon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1F">
              <a:alpha val="80000"/>
            </a:srgbClr>
          </a:solidFill>
          <a:ln w="12700">
            <a:solidFill>
              <a:srgbClr val="03101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Үр дүн / Result — 2-р хэсэг</a:t>
            </a:r>
            <a:endParaRPr lang="en-US" sz="2350" dirty="0"/>
          </a:p>
        </p:txBody>
      </p:sp>
      <p:sp>
        <p:nvSpPr>
          <p:cNvPr id="5" name="Shape 2"/>
          <p:cNvSpPr/>
          <p:nvPr/>
        </p:nvSpPr>
        <p:spPr>
          <a:xfrm>
            <a:off x="502920" y="804672"/>
            <a:ext cx="1051560" cy="0"/>
          </a:xfrm>
          <a:prstGeom prst="line">
            <a:avLst/>
          </a:prstGeom>
          <a:noFill/>
          <a:ln w="38100">
            <a:solidFill>
              <a:srgbClr val="00E5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00784" y="7132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7BEDB"/>
                </a:solidFill>
              </a:rPr>
              <a:t>Virtual Drum ба Study Space Monitor-ийн ажиллагаа</a:t>
            </a:r>
            <a:endParaRPr lang="en-US" sz="980" dirty="0"/>
          </a:p>
        </p:txBody>
      </p:sp>
      <p:sp>
        <p:nvSpPr>
          <p:cNvPr id="7" name="Shape 4"/>
          <p:cNvSpPr/>
          <p:nvPr/>
        </p:nvSpPr>
        <p:spPr>
          <a:xfrm>
            <a:off x="658368" y="1069848"/>
            <a:ext cx="5321808" cy="5193792"/>
          </a:xfrm>
          <a:prstGeom prst="roundRect">
            <a:avLst>
              <a:gd name="adj" fmla="val 1408"/>
            </a:avLst>
          </a:prstGeom>
          <a:solidFill>
            <a:srgbClr val="0B1E35">
              <a:alpha val="97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3441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0E5FF"/>
                </a:solidFill>
              </a:rPr>
              <a:t>VIRTUAL DRUM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932688" y="1819656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1755648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5" dirty="0">
                <a:solidFill>
                  <a:srgbClr val="F7FBFF"/>
                </a:solidFill>
              </a:rPr>
              <a:t>Hand Landmarker ашиглан index fingertip-ийг drum cursor болгосон.</a:t>
            </a:r>
            <a:endParaRPr lang="en-US" sz="875" dirty="0"/>
          </a:p>
        </p:txBody>
      </p:sp>
      <p:sp>
        <p:nvSpPr>
          <p:cNvPr id="11" name="Shape 8"/>
          <p:cNvSpPr/>
          <p:nvPr/>
        </p:nvSpPr>
        <p:spPr>
          <a:xfrm>
            <a:off x="932688" y="2258568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194560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5" dirty="0">
                <a:solidFill>
                  <a:srgbClr val="F7FBFF"/>
                </a:solidFill>
              </a:rPr>
              <a:t>Hit detection нь зөвхөн pad дотор орсон эсэхээр бус velocity reversal зарчмаар ажилласан.</a:t>
            </a:r>
            <a:endParaRPr lang="en-US" sz="875" dirty="0"/>
          </a:p>
        </p:txBody>
      </p:sp>
      <p:sp>
        <p:nvSpPr>
          <p:cNvPr id="13" name="Shape 10"/>
          <p:cNvSpPr/>
          <p:nvPr/>
        </p:nvSpPr>
        <p:spPr>
          <a:xfrm>
            <a:off x="932688" y="2697480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2633472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5" dirty="0">
                <a:solidFill>
                  <a:srgbClr val="F7FBFF"/>
                </a:solidFill>
              </a:rPr>
              <a:t>6 pad layout: Hi-Hat, Snare, Kick, Tom, Clap, Crash — screen дээр тэнцвэртэй байрласан.</a:t>
            </a:r>
            <a:endParaRPr lang="en-US" sz="875" dirty="0"/>
          </a:p>
        </p:txBody>
      </p:sp>
      <p:sp>
        <p:nvSpPr>
          <p:cNvPr id="15" name="Shape 12"/>
          <p:cNvSpPr/>
          <p:nvPr/>
        </p:nvSpPr>
        <p:spPr>
          <a:xfrm>
            <a:off x="932688" y="3136392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8992" y="3072384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5" dirty="0">
                <a:solidFill>
                  <a:srgbClr val="F7FBFF"/>
                </a:solidFill>
              </a:rPr>
              <a:t>Rhythm challenge нь Perfect / Great / Good / Miss timing judgment, score, combo, accuracy тооцдог.</a:t>
            </a:r>
            <a:endParaRPr lang="en-US" sz="875" dirty="0"/>
          </a:p>
        </p:txBody>
      </p:sp>
      <p:sp>
        <p:nvSpPr>
          <p:cNvPr id="17" name="Shape 14"/>
          <p:cNvSpPr/>
          <p:nvPr/>
        </p:nvSpPr>
        <p:spPr>
          <a:xfrm>
            <a:off x="932688" y="3575304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78992" y="3511296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5" dirty="0">
                <a:solidFill>
                  <a:srgbClr val="F7FBFF"/>
                </a:solidFill>
              </a:rPr>
              <a:t>Web Audio API ашиглан kick, snare, hi-hat зэрэг sound-уудыг real-time synthesize хийсэн.</a:t>
            </a:r>
            <a:endParaRPr lang="en-US" sz="875" dirty="0"/>
          </a:p>
        </p:txBody>
      </p:sp>
      <p:sp>
        <p:nvSpPr>
          <p:cNvPr id="19" name="Shape 16"/>
          <p:cNvSpPr/>
          <p:nvPr/>
        </p:nvSpPr>
        <p:spPr>
          <a:xfrm>
            <a:off x="941832" y="5303520"/>
            <a:ext cx="1042416" cy="283464"/>
          </a:xfrm>
          <a:prstGeom prst="roundRect">
            <a:avLst>
              <a:gd name="adj" fmla="val 19355"/>
            </a:avLst>
          </a:prstGeom>
          <a:solidFill>
            <a:srgbClr val="1EA7FF">
              <a:alpha val="88000"/>
            </a:srgbClr>
          </a:solidFill>
          <a:ln w="10160">
            <a:solidFill>
              <a:srgbClr val="1EA7FF">
                <a:alpha val="8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5365699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7FBFF"/>
                </a:solidFill>
              </a:rPr>
              <a:t>Hi-Hat</a:t>
            </a:r>
            <a:endParaRPr lang="en-US" sz="760" dirty="0"/>
          </a:p>
        </p:txBody>
      </p:sp>
      <p:sp>
        <p:nvSpPr>
          <p:cNvPr id="21" name="Shape 18"/>
          <p:cNvSpPr/>
          <p:nvPr/>
        </p:nvSpPr>
        <p:spPr>
          <a:xfrm>
            <a:off x="2221992" y="5303520"/>
            <a:ext cx="1042416" cy="283464"/>
          </a:xfrm>
          <a:prstGeom prst="roundRect">
            <a:avLst>
              <a:gd name="adj" fmla="val 19355"/>
            </a:avLst>
          </a:prstGeom>
          <a:solidFill>
            <a:srgbClr val="00E5FF">
              <a:alpha val="88000"/>
            </a:srgbClr>
          </a:solidFill>
          <a:ln w="10160">
            <a:solidFill>
              <a:srgbClr val="00E5FF">
                <a:alpha val="82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86000" y="5365699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7FBFF"/>
                </a:solidFill>
              </a:rPr>
              <a:t>Snare</a:t>
            </a:r>
            <a:endParaRPr lang="en-US" sz="760" dirty="0"/>
          </a:p>
        </p:txBody>
      </p:sp>
      <p:sp>
        <p:nvSpPr>
          <p:cNvPr id="23" name="Shape 20"/>
          <p:cNvSpPr/>
          <p:nvPr/>
        </p:nvSpPr>
        <p:spPr>
          <a:xfrm>
            <a:off x="3502152" y="5303520"/>
            <a:ext cx="1042416" cy="283464"/>
          </a:xfrm>
          <a:prstGeom prst="roundRect">
            <a:avLst>
              <a:gd name="adj" fmla="val 19355"/>
            </a:avLst>
          </a:prstGeom>
          <a:solidFill>
            <a:srgbClr val="1EA7FF">
              <a:alpha val="88000"/>
            </a:srgbClr>
          </a:solidFill>
          <a:ln w="10160">
            <a:solidFill>
              <a:srgbClr val="1EA7FF">
                <a:alpha val="82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66160" y="5365699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7FBFF"/>
                </a:solidFill>
              </a:rPr>
              <a:t>Kick</a:t>
            </a:r>
            <a:endParaRPr lang="en-US" sz="760" dirty="0"/>
          </a:p>
        </p:txBody>
      </p:sp>
      <p:sp>
        <p:nvSpPr>
          <p:cNvPr id="25" name="Shape 22"/>
          <p:cNvSpPr/>
          <p:nvPr/>
        </p:nvSpPr>
        <p:spPr>
          <a:xfrm>
            <a:off x="941832" y="5687568"/>
            <a:ext cx="1042416" cy="283464"/>
          </a:xfrm>
          <a:prstGeom prst="roundRect">
            <a:avLst>
              <a:gd name="adj" fmla="val 19355"/>
            </a:avLst>
          </a:prstGeom>
          <a:solidFill>
            <a:srgbClr val="00E5FF">
              <a:alpha val="88000"/>
            </a:srgbClr>
          </a:solidFill>
          <a:ln w="10160">
            <a:solidFill>
              <a:srgbClr val="00E5FF">
                <a:alpha val="8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840" y="5749747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7FBFF"/>
                </a:solidFill>
              </a:rPr>
              <a:t>Tom</a:t>
            </a:r>
            <a:endParaRPr lang="en-US" sz="760" dirty="0"/>
          </a:p>
        </p:txBody>
      </p:sp>
      <p:sp>
        <p:nvSpPr>
          <p:cNvPr id="27" name="Shape 24"/>
          <p:cNvSpPr/>
          <p:nvPr/>
        </p:nvSpPr>
        <p:spPr>
          <a:xfrm>
            <a:off x="2221992" y="5687568"/>
            <a:ext cx="1042416" cy="283464"/>
          </a:xfrm>
          <a:prstGeom prst="roundRect">
            <a:avLst>
              <a:gd name="adj" fmla="val 19355"/>
            </a:avLst>
          </a:prstGeom>
          <a:solidFill>
            <a:srgbClr val="1EA7FF">
              <a:alpha val="88000"/>
            </a:srgbClr>
          </a:solidFill>
          <a:ln w="10160">
            <a:solidFill>
              <a:srgbClr val="1EA7FF">
                <a:alpha val="82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86000" y="5749747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7FBFF"/>
                </a:solidFill>
              </a:rPr>
              <a:t>Clap</a:t>
            </a:r>
            <a:endParaRPr lang="en-US" sz="760" dirty="0"/>
          </a:p>
        </p:txBody>
      </p:sp>
      <p:sp>
        <p:nvSpPr>
          <p:cNvPr id="29" name="Shape 26"/>
          <p:cNvSpPr/>
          <p:nvPr/>
        </p:nvSpPr>
        <p:spPr>
          <a:xfrm>
            <a:off x="3502152" y="5687568"/>
            <a:ext cx="1042416" cy="283464"/>
          </a:xfrm>
          <a:prstGeom prst="roundRect">
            <a:avLst>
              <a:gd name="adj" fmla="val 19355"/>
            </a:avLst>
          </a:prstGeom>
          <a:solidFill>
            <a:srgbClr val="00E5FF">
              <a:alpha val="88000"/>
            </a:srgbClr>
          </a:solidFill>
          <a:ln w="10160">
            <a:solidFill>
              <a:srgbClr val="00E5FF">
                <a:alpha val="82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566160" y="5749747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7FBFF"/>
                </a:solidFill>
              </a:rPr>
              <a:t>Crash</a:t>
            </a:r>
            <a:endParaRPr lang="en-US" sz="760" dirty="0"/>
          </a:p>
        </p:txBody>
      </p:sp>
      <p:sp>
        <p:nvSpPr>
          <p:cNvPr id="31" name="Shape 28"/>
          <p:cNvSpPr/>
          <p:nvPr/>
        </p:nvSpPr>
        <p:spPr>
          <a:xfrm>
            <a:off x="6245352" y="1069848"/>
            <a:ext cx="5230368" cy="5193792"/>
          </a:xfrm>
          <a:prstGeom prst="roundRect">
            <a:avLst>
              <a:gd name="adj" fmla="val 1408"/>
            </a:avLst>
          </a:prstGeom>
          <a:solidFill>
            <a:srgbClr val="0B1E35">
              <a:alpha val="94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19672" y="134416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0E5FF"/>
                </a:solidFill>
              </a:rPr>
              <a:t>STUDY SPACE MONITOR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6519672" y="1819656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65976" y="17556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5" dirty="0">
                <a:solidFill>
                  <a:srgbClr val="F7FBFF"/>
                </a:solidFill>
              </a:rPr>
              <a:t>Person, laptop, cell phone, book, backpack, bottle, cup class-уудыг илрүүлнэ.</a:t>
            </a:r>
            <a:endParaRPr lang="en-US" sz="905" dirty="0"/>
          </a:p>
        </p:txBody>
      </p:sp>
      <p:sp>
        <p:nvSpPr>
          <p:cNvPr id="35" name="Shape 32"/>
          <p:cNvSpPr/>
          <p:nvPr/>
        </p:nvSpPr>
        <p:spPr>
          <a:xfrm>
            <a:off x="6519672" y="2304288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65976" y="2240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5" dirty="0">
                <a:solidFill>
                  <a:srgbClr val="F7FBFF"/>
                </a:solidFill>
              </a:rPr>
              <a:t>Хүнтэй ойр байгаа эд зүйлсийг тухайн хүний ownership candidate гэж үзэх боломжтой.</a:t>
            </a:r>
            <a:endParaRPr lang="en-US" sz="905" dirty="0"/>
          </a:p>
        </p:txBody>
      </p:sp>
      <p:sp>
        <p:nvSpPr>
          <p:cNvPr id="37" name="Shape 34"/>
          <p:cNvSpPr/>
          <p:nvPr/>
        </p:nvSpPr>
        <p:spPr>
          <a:xfrm>
            <a:off x="6519672" y="2788920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665976" y="27249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5" dirty="0">
                <a:solidFill>
                  <a:srgbClr val="F7FBFF"/>
                </a:solidFill>
              </a:rPr>
              <a:t>Tracking болон state machine ашиглавал эд зүйл эзэнтэйгээ ойр байна уу, орхигдсон уу гэдгийг хянаж болно.</a:t>
            </a:r>
            <a:endParaRPr lang="en-US" sz="905" dirty="0"/>
          </a:p>
        </p:txBody>
      </p:sp>
      <p:sp>
        <p:nvSpPr>
          <p:cNvPr id="39" name="Shape 36"/>
          <p:cNvSpPr/>
          <p:nvPr/>
        </p:nvSpPr>
        <p:spPr>
          <a:xfrm>
            <a:off x="6519672" y="3273552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665976" y="32095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5" dirty="0">
                <a:solidFill>
                  <a:srgbClr val="F7FBFF"/>
                </a:solidFill>
              </a:rPr>
              <a:t>Прототип түвшинд номын сан, lab, study room зэрэг орчны ашиглалт хэмжих dashboard болгох боломжтой.</a:t>
            </a:r>
            <a:endParaRPr lang="en-US" sz="905" dirty="0"/>
          </a:p>
        </p:txBody>
      </p:sp>
      <p:sp>
        <p:nvSpPr>
          <p:cNvPr id="41" name="Shape 38"/>
          <p:cNvSpPr/>
          <p:nvPr/>
        </p:nvSpPr>
        <p:spPr>
          <a:xfrm>
            <a:off x="6629400" y="4919472"/>
            <a:ext cx="1143000" cy="676656"/>
          </a:xfrm>
          <a:prstGeom prst="roundRect">
            <a:avLst>
              <a:gd name="adj" fmla="val 10811"/>
            </a:avLst>
          </a:prstGeom>
          <a:solidFill>
            <a:srgbClr val="081B30">
              <a:alpha val="92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93408" y="4992624"/>
            <a:ext cx="1014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</a:rPr>
              <a:t>7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6693408" y="5312664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A7BEDB"/>
                </a:solidFill>
              </a:rPr>
              <a:t>object class</a:t>
            </a:r>
            <a:endParaRPr lang="en-US" sz="740" dirty="0"/>
          </a:p>
        </p:txBody>
      </p:sp>
      <p:sp>
        <p:nvSpPr>
          <p:cNvPr id="44" name="Shape 41"/>
          <p:cNvSpPr/>
          <p:nvPr/>
        </p:nvSpPr>
        <p:spPr>
          <a:xfrm>
            <a:off x="8165592" y="4919472"/>
            <a:ext cx="1143000" cy="676656"/>
          </a:xfrm>
          <a:prstGeom prst="roundRect">
            <a:avLst>
              <a:gd name="adj" fmla="val 10811"/>
            </a:avLst>
          </a:prstGeom>
          <a:solidFill>
            <a:srgbClr val="081B30">
              <a:alpha val="92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229600" y="4992624"/>
            <a:ext cx="1014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</a:rPr>
              <a:t>ID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8229600" y="5312664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A7BEDB"/>
                </a:solidFill>
              </a:rPr>
              <a:t>tracking</a:t>
            </a:r>
            <a:endParaRPr lang="en-US" sz="740" dirty="0"/>
          </a:p>
        </p:txBody>
      </p:sp>
      <p:sp>
        <p:nvSpPr>
          <p:cNvPr id="47" name="Shape 44"/>
          <p:cNvSpPr/>
          <p:nvPr/>
        </p:nvSpPr>
        <p:spPr>
          <a:xfrm>
            <a:off x="9710928" y="4919472"/>
            <a:ext cx="1143000" cy="676656"/>
          </a:xfrm>
          <a:prstGeom prst="roundRect">
            <a:avLst>
              <a:gd name="adj" fmla="val 10811"/>
            </a:avLst>
          </a:prstGeom>
          <a:solidFill>
            <a:srgbClr val="081B30">
              <a:alpha val="92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774936" y="4992624"/>
            <a:ext cx="1014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</a:rPr>
              <a:t>UX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9774936" y="5312664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A7BEDB"/>
                </a:solidFill>
              </a:rPr>
              <a:t>dashboard</a:t>
            </a:r>
            <a:endParaRPr lang="en-US" sz="740" dirty="0"/>
          </a:p>
        </p:txBody>
      </p:sp>
      <p:sp>
        <p:nvSpPr>
          <p:cNvPr id="50" name="Text 47"/>
          <p:cNvSpPr/>
          <p:nvPr/>
        </p:nvSpPr>
        <p:spPr>
          <a:xfrm>
            <a:off x="7726680" y="6528816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dirty="0">
                <a:solidFill>
                  <a:srgbClr val="7D95B2"/>
                </a:solidFill>
              </a:rPr>
              <a:t>AI Magic Mirror ба Real-Time Object Detection систем  •  7/8</a:t>
            </a:r>
            <a:endParaRPr lang="en-US" sz="8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futuristic_technology_themed_digital_backg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1F">
              <a:alpha val="80000"/>
            </a:srgbClr>
          </a:solidFill>
          <a:ln w="12700">
            <a:solidFill>
              <a:srgbClr val="03101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Дүгнэлт / Conclusion</a:t>
            </a:r>
            <a:endParaRPr lang="en-US" sz="2350" dirty="0"/>
          </a:p>
        </p:txBody>
      </p:sp>
      <p:sp>
        <p:nvSpPr>
          <p:cNvPr id="5" name="Shape 2"/>
          <p:cNvSpPr/>
          <p:nvPr/>
        </p:nvSpPr>
        <p:spPr>
          <a:xfrm>
            <a:off x="502920" y="804672"/>
            <a:ext cx="1051560" cy="0"/>
          </a:xfrm>
          <a:prstGeom prst="line">
            <a:avLst/>
          </a:prstGeom>
          <a:noFill/>
          <a:ln w="38100">
            <a:solidFill>
              <a:srgbClr val="00E5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00784" y="7132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7BEDB"/>
                </a:solidFill>
              </a:rPr>
              <a:t>Гол амжилт, суралцсан зүйл ба дараагийн хөгжүүлэлт</a:t>
            </a:r>
            <a:endParaRPr lang="en-US" sz="980" dirty="0"/>
          </a:p>
        </p:txBody>
      </p:sp>
      <p:sp>
        <p:nvSpPr>
          <p:cNvPr id="7" name="Shape 4"/>
          <p:cNvSpPr/>
          <p:nvPr/>
        </p:nvSpPr>
        <p:spPr>
          <a:xfrm>
            <a:off x="658368" y="1078992"/>
            <a:ext cx="5321808" cy="5138928"/>
          </a:xfrm>
          <a:prstGeom prst="roundRect">
            <a:avLst>
              <a:gd name="adj" fmla="val 1423"/>
            </a:avLst>
          </a:prstGeom>
          <a:solidFill>
            <a:srgbClr val="0B1E35">
              <a:alpha val="95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3533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0E5FF"/>
                </a:solidFill>
              </a:rPr>
              <a:t>ДҮГНЭЛТ</a:t>
            </a:r>
            <a:endParaRPr lang="en-US" sz="820" dirty="0"/>
          </a:p>
        </p:txBody>
      </p:sp>
      <p:sp>
        <p:nvSpPr>
          <p:cNvPr id="9" name="Text 6"/>
          <p:cNvSpPr/>
          <p:nvPr/>
        </p:nvSpPr>
        <p:spPr>
          <a:xfrm>
            <a:off x="932688" y="1737360"/>
            <a:ext cx="46177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7FBFF"/>
                </a:solidFill>
              </a:rPr>
              <a:t>Энэхүү төсөл нь object detection, tracking, face/hand landmark, canvas rendering, realtime audio feedback зэрэг олон компьютерийн харааны ойлголтыг нэг full-stack web application болгон нэгтгэсэн.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32688" y="2880360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281635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5" dirty="0">
                <a:solidFill>
                  <a:srgbClr val="F7FBFF"/>
                </a:solidFill>
              </a:rPr>
              <a:t>Зөвхөн model ажиллуулах биш, model output-ийг хэрэглэгчийн experience болгож хувиргасан.</a:t>
            </a:r>
            <a:endParaRPr lang="en-US" sz="915" dirty="0"/>
          </a:p>
        </p:txBody>
      </p:sp>
      <p:sp>
        <p:nvSpPr>
          <p:cNvPr id="12" name="Shape 9"/>
          <p:cNvSpPr/>
          <p:nvPr/>
        </p:nvSpPr>
        <p:spPr>
          <a:xfrm>
            <a:off x="932688" y="3383280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331927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5" dirty="0">
                <a:solidFill>
                  <a:srgbClr val="F7FBFF"/>
                </a:solidFill>
              </a:rPr>
              <a:t>Tracking, smoothing, coordinate correction зэрэг нэмэлт давхарга real-time demo-д зайлшгүй хэрэгтэйг харуулсан.</a:t>
            </a:r>
            <a:endParaRPr lang="en-US" sz="915" dirty="0"/>
          </a:p>
        </p:txBody>
      </p:sp>
      <p:sp>
        <p:nvSpPr>
          <p:cNvPr id="14" name="Shape 11"/>
          <p:cNvSpPr/>
          <p:nvPr/>
        </p:nvSpPr>
        <p:spPr>
          <a:xfrm>
            <a:off x="932688" y="3886200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78992" y="382219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5" dirty="0">
                <a:solidFill>
                  <a:srgbClr val="F7FBFF"/>
                </a:solidFill>
              </a:rPr>
              <a:t>Backend inference болон frontend interaction-ийг тусгаарласнаар UX тогтвортой болсон.</a:t>
            </a:r>
            <a:endParaRPr lang="en-US" sz="915" dirty="0"/>
          </a:p>
        </p:txBody>
      </p:sp>
      <p:sp>
        <p:nvSpPr>
          <p:cNvPr id="16" name="Shape 13"/>
          <p:cNvSpPr/>
          <p:nvPr/>
        </p:nvSpPr>
        <p:spPr>
          <a:xfrm>
            <a:off x="6245352" y="1078992"/>
            <a:ext cx="5230368" cy="5138928"/>
          </a:xfrm>
          <a:prstGeom prst="roundRect">
            <a:avLst>
              <a:gd name="adj" fmla="val 1423"/>
            </a:avLst>
          </a:prstGeom>
          <a:solidFill>
            <a:srgbClr val="0B1E35">
              <a:alpha val="95000"/>
            </a:srgbClr>
          </a:solidFill>
          <a:ln w="13970">
            <a:solidFill>
              <a:srgbClr val="1D436B">
                <a:alpha val="92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9672" y="13533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0E5FF"/>
                </a:solidFill>
              </a:rPr>
              <a:t>ЦААШДЫН АЖИЛ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6519672" y="1801368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65976" y="1737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7FBFF"/>
                </a:solidFill>
              </a:rPr>
              <a:t>Quantitative dashboard: FPS, inference latency, dropped frames, detection confidence metrics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519672" y="2368296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65976" y="2304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7FBFF"/>
                </a:solidFill>
              </a:rPr>
              <a:t>Mobile responsive optimization: camera permission, orientation, touch-friendly layout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519672" y="2935224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65976" y="28712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7FBFF"/>
                </a:solidFill>
              </a:rPr>
              <a:t>Drum game: difficulty level, custom beat chart import, performance history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519672" y="3502152"/>
            <a:ext cx="64008" cy="640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65976" y="34381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7FBFF"/>
                </a:solidFill>
              </a:rPr>
              <a:t>Study-space monitor: privacy-aware event logging, anonymized dashboard, alert rule configuration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58368" y="6364224"/>
            <a:ext cx="10789920" cy="0"/>
          </a:xfrm>
          <a:prstGeom prst="line">
            <a:avLst/>
          </a:prstGeom>
          <a:noFill/>
          <a:ln w="15240">
            <a:solidFill>
              <a:srgbClr val="00E5FF">
                <a:alpha val="8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368" y="647395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7FBFF"/>
                </a:solidFill>
              </a:rPr>
              <a:t>Анхаарал хандуулсанд баярлалаа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7726680" y="6528816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dirty="0">
                <a:solidFill>
                  <a:srgbClr val="7D95B2"/>
                </a:solidFill>
              </a:rPr>
              <a:t>AI Magic Mirror ба Real-Time Object Detection систем  •  8/8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1245</Words>
  <Application>Microsoft Office PowerPoint</Application>
  <PresentationFormat>Widescreen</PresentationFormat>
  <Paragraphs>179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ШУТИС - МХТС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Magic Mirror ба Real-Time Object Detection систем - Enhanced</dc:title>
  <dc:subject>AI Magic Mirror ба Real-Time Object Detection систем</dc:subject>
  <dc:creator>OpenAI</dc:creator>
  <cp:lastModifiedBy>NASANJARGAL BATJARGAL</cp:lastModifiedBy>
  <cp:revision>2</cp:revision>
  <dcterms:created xsi:type="dcterms:W3CDTF">2026-05-11T01:54:08Z</dcterms:created>
  <dcterms:modified xsi:type="dcterms:W3CDTF">2026-05-11T02:35:52Z</dcterms:modified>
</cp:coreProperties>
</file>